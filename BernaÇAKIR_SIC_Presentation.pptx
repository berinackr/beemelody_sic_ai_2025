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8" r:id="rId3"/>
    <p:sldId id="270" r:id="rId4"/>
    <p:sldId id="277" r:id="rId5"/>
    <p:sldId id="280" r:id="rId6"/>
    <p:sldId id="281" r:id="rId7"/>
    <p:sldId id="276" r:id="rId8"/>
    <p:sldId id="271" r:id="rId9"/>
    <p:sldId id="272" r:id="rId10"/>
    <p:sldId id="274" r:id="rId11"/>
    <p:sldId id="275" r:id="rId12"/>
    <p:sldId id="257" r:id="rId13"/>
    <p:sldId id="282" r:id="rId14"/>
    <p:sldId id="261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6600"/>
    <a:srgbClr val="A65050"/>
    <a:srgbClr val="FCB028"/>
    <a:srgbClr val="FFAD5B"/>
    <a:srgbClr val="EABD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331" autoAdjust="0"/>
  </p:normalViewPr>
  <p:slideViewPr>
    <p:cSldViewPr snapToGrid="0">
      <p:cViewPr varScale="1">
        <p:scale>
          <a:sx n="54" d="100"/>
          <a:sy n="54" d="100"/>
        </p:scale>
        <p:origin x="22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CD9ED-D5BC-460B-B5FB-997A4C23F42F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30B942-A563-48E6-9234-19BD6285EB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8941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Arıları hepimiz biliyoruz. .</a:t>
            </a:r>
          </a:p>
          <a:p>
            <a:r>
              <a:rPr lang="tr-TR" dirty="0"/>
              <a:t>Kendileri, doğanın en küçük ama en etkili işçilerinden biri.</a:t>
            </a:r>
            <a:br>
              <a:rPr lang="tr-TR" dirty="0"/>
            </a:br>
            <a:r>
              <a:rPr lang="tr-TR" dirty="0"/>
              <a:t>Yediğimiz birçok şey meyveler, sebzeler büyük ölçüde onların yaptığı tozlaşmaya bağlıdır.</a:t>
            </a:r>
          </a:p>
          <a:p>
            <a:r>
              <a:rPr lang="tr-TR" dirty="0"/>
              <a:t>Dünya genelinde </a:t>
            </a:r>
            <a:r>
              <a:rPr lang="tr-TR" b="1" dirty="0"/>
              <a:t>100’den fazla bitki türü</a:t>
            </a:r>
            <a:r>
              <a:rPr lang="tr-TR" dirty="0"/>
              <a:t> doğrudan arıların emeğiyle çoğalıyor.</a:t>
            </a:r>
            <a:br>
              <a:rPr lang="tr-TR" dirty="0"/>
            </a:br>
            <a:r>
              <a:rPr lang="tr-TR" dirty="0"/>
              <a:t>Eğer arılar kaybolursa, gıdalarımızın yaklaşık </a:t>
            </a:r>
            <a:r>
              <a:rPr lang="tr-TR" b="1" dirty="0"/>
              <a:t>%75’ini</a:t>
            </a:r>
            <a:r>
              <a:rPr lang="tr-TR" dirty="0"/>
              <a:t> kaybediyoruz.</a:t>
            </a:r>
          </a:p>
          <a:p>
            <a:r>
              <a:rPr lang="tr-TR" dirty="0"/>
              <a:t>Bugün dünya genelinde yılda </a:t>
            </a:r>
            <a:r>
              <a:rPr lang="tr-TR" b="1" dirty="0"/>
              <a:t>1,6 milyon ton bal</a:t>
            </a:r>
            <a:r>
              <a:rPr lang="tr-TR" dirty="0"/>
              <a:t> üretiliyor.</a:t>
            </a:r>
            <a:br>
              <a:rPr lang="tr-TR" dirty="0"/>
            </a:br>
            <a:r>
              <a:rPr lang="tr-TR" dirty="0"/>
              <a:t>Ama bu yalnızca bal demek değil; arılar, ekosistemin görünmeyen motoru.</a:t>
            </a:r>
          </a:p>
          <a:p>
            <a:r>
              <a:rPr lang="tr-TR" dirty="0"/>
              <a:t>Ancak son 20 yılda </a:t>
            </a:r>
            <a:r>
              <a:rPr lang="tr-TR" b="1" dirty="0"/>
              <a:t>arı popülasyonları yaklaşık %30 oranında azaldı</a:t>
            </a:r>
            <a:r>
              <a:rPr lang="tr-TR" dirty="0"/>
              <a:t>.</a:t>
            </a:r>
            <a:br>
              <a:rPr lang="tr-TR" dirty="0"/>
            </a:br>
            <a:r>
              <a:rPr lang="tr-TR" dirty="0"/>
              <a:t>Pestisit kullanımı, iklim değişikliği ve kovan hastalıkları,</a:t>
            </a:r>
            <a:br>
              <a:rPr lang="tr-TR" dirty="0"/>
            </a:br>
            <a:r>
              <a:rPr lang="tr-TR" dirty="0"/>
              <a:t>bu küçük canlıların yaşam döngüsünü ciddi biçimde tehdit ediyor.</a:t>
            </a:r>
          </a:p>
          <a:p>
            <a:r>
              <a:rPr lang="tr-TR" dirty="0"/>
              <a:t>Bu durum sadece doğanın değil, insanlığın da alarm zili.</a:t>
            </a:r>
            <a:br>
              <a:rPr lang="tr-TR" dirty="0"/>
            </a:br>
            <a:r>
              <a:rPr lang="tr-TR" dirty="0"/>
              <a:t>Çünkü arılar olmadan yalnızca tarlalar değil,</a:t>
            </a:r>
            <a:br>
              <a:rPr lang="tr-TR" dirty="0"/>
            </a:br>
            <a:r>
              <a:rPr lang="tr-TR" dirty="0"/>
              <a:t>yaşamın kendisi de sessizleşmeye başlar.”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30B942-A563-48E6-9234-19BD6285EBCE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8452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Arıları hepimiz biliyoruz. .</a:t>
            </a:r>
          </a:p>
          <a:p>
            <a:r>
              <a:rPr lang="tr-TR" dirty="0"/>
              <a:t>Kendileri, doğanın en küçük ama en etkili işçilerinden biri.</a:t>
            </a:r>
            <a:br>
              <a:rPr lang="tr-TR" dirty="0"/>
            </a:br>
            <a:r>
              <a:rPr lang="tr-TR" dirty="0"/>
              <a:t>Yediğimiz birçok şey meyveler, sebzeler büyük ölçüde onların yaptığı tozlaşmaya bağlıdır.</a:t>
            </a:r>
          </a:p>
          <a:p>
            <a:r>
              <a:rPr lang="tr-TR" dirty="0"/>
              <a:t>Dünya genelinde </a:t>
            </a:r>
            <a:r>
              <a:rPr lang="tr-TR" b="1" dirty="0"/>
              <a:t>100’den fazla bitki türü</a:t>
            </a:r>
            <a:r>
              <a:rPr lang="tr-TR" dirty="0"/>
              <a:t> doğrudan arıların emeğiyle çoğalıyor.</a:t>
            </a:r>
            <a:br>
              <a:rPr lang="tr-TR" dirty="0"/>
            </a:br>
            <a:r>
              <a:rPr lang="tr-TR" dirty="0"/>
              <a:t>Eğer arılar kaybolursa, gıdalarımızın yaklaşık </a:t>
            </a:r>
            <a:r>
              <a:rPr lang="tr-TR" b="1" dirty="0"/>
              <a:t>%75’ini</a:t>
            </a:r>
            <a:r>
              <a:rPr lang="tr-TR" dirty="0"/>
              <a:t> kaybediyoruz.</a:t>
            </a:r>
          </a:p>
          <a:p>
            <a:r>
              <a:rPr lang="tr-TR" dirty="0"/>
              <a:t>Bugün dünya genelinde yılda </a:t>
            </a:r>
            <a:r>
              <a:rPr lang="tr-TR" b="1" dirty="0"/>
              <a:t>1,6 milyon ton bal</a:t>
            </a:r>
            <a:r>
              <a:rPr lang="tr-TR" dirty="0"/>
              <a:t> üretiliyor.</a:t>
            </a:r>
            <a:br>
              <a:rPr lang="tr-TR" dirty="0"/>
            </a:br>
            <a:r>
              <a:rPr lang="tr-TR" dirty="0"/>
              <a:t>Ama bu yalnızca bal demek değil; arılar, ekosistemin görünmeyen motoru.</a:t>
            </a:r>
          </a:p>
          <a:p>
            <a:r>
              <a:rPr lang="tr-TR" dirty="0"/>
              <a:t>Ancak son 20 yılda </a:t>
            </a:r>
            <a:r>
              <a:rPr lang="tr-TR" b="1" dirty="0"/>
              <a:t>arı popülasyonları yaklaşık %30 oranında azaldı</a:t>
            </a:r>
            <a:r>
              <a:rPr lang="tr-TR" dirty="0"/>
              <a:t>.</a:t>
            </a:r>
            <a:br>
              <a:rPr lang="tr-TR" dirty="0"/>
            </a:br>
            <a:r>
              <a:rPr lang="tr-TR" dirty="0"/>
              <a:t>Pestisit kullanımı, iklim değişikliği ve kovan hastalıkları,</a:t>
            </a:r>
            <a:br>
              <a:rPr lang="tr-TR" dirty="0"/>
            </a:br>
            <a:r>
              <a:rPr lang="tr-TR" dirty="0"/>
              <a:t>bu küçük canlıların yaşam döngüsünü ciddi biçimde tehdit ediyor.</a:t>
            </a:r>
          </a:p>
          <a:p>
            <a:r>
              <a:rPr lang="tr-TR" dirty="0"/>
              <a:t>Bu durum sadece doğanın değil, insanlığın da alarm zili.</a:t>
            </a:r>
            <a:br>
              <a:rPr lang="tr-TR" dirty="0"/>
            </a:br>
            <a:r>
              <a:rPr lang="tr-TR" dirty="0"/>
              <a:t>Çünkü arılar olmadan yalnızca tarlalar değil,</a:t>
            </a:r>
            <a:br>
              <a:rPr lang="tr-TR" dirty="0"/>
            </a:br>
            <a:r>
              <a:rPr lang="tr-TR" dirty="0"/>
              <a:t>yaşamın kendisi de sessizleşmeye başlar.”</a:t>
            </a:r>
          </a:p>
          <a:p>
            <a:endParaRPr lang="tr-TR" dirty="0"/>
          </a:p>
          <a:p>
            <a:r>
              <a:rPr lang="tr-TR" dirty="0"/>
              <a:t>“Tüm bu sorunlardan yola çıkarak, biz </a:t>
            </a:r>
            <a:r>
              <a:rPr lang="tr-TR" dirty="0" err="1"/>
              <a:t>BeeMelody</a:t>
            </a:r>
            <a:r>
              <a:rPr lang="tr-TR" dirty="0"/>
              <a:t> projesini geliştirdik.</a:t>
            </a:r>
            <a:br>
              <a:rPr lang="tr-TR" dirty="0"/>
            </a:br>
            <a:r>
              <a:rPr lang="tr-TR" dirty="0" err="1"/>
              <a:t>BeeMelody</a:t>
            </a:r>
            <a:r>
              <a:rPr lang="tr-TR" dirty="0"/>
              <a:t>, arıların seslerinden ve görüntülerinden yola çıkarak</a:t>
            </a:r>
            <a:br>
              <a:rPr lang="tr-TR" dirty="0"/>
            </a:br>
            <a:r>
              <a:rPr lang="tr-TR" dirty="0"/>
              <a:t>kovanın sağlık durumunu analiz eden bir yapay zekâ sistemidir.</a:t>
            </a:r>
          </a:p>
          <a:p>
            <a:r>
              <a:rPr lang="tr-TR" dirty="0"/>
              <a:t>Projemizin amacı basit ama etkili:</a:t>
            </a:r>
            <a:br>
              <a:rPr lang="tr-TR" dirty="0"/>
            </a:br>
            <a:r>
              <a:rPr lang="tr-TR" b="1" dirty="0"/>
              <a:t>Arıların sesindeki değişimleri</a:t>
            </a:r>
            <a:r>
              <a:rPr lang="tr-TR" dirty="0"/>
              <a:t> ve </a:t>
            </a:r>
            <a:r>
              <a:rPr lang="tr-TR" b="1" dirty="0"/>
              <a:t>görsel belirtilerini</a:t>
            </a:r>
            <a:r>
              <a:rPr lang="tr-TR" dirty="0"/>
              <a:t> erken fark edip,</a:t>
            </a:r>
            <a:br>
              <a:rPr lang="tr-TR" dirty="0"/>
            </a:br>
            <a:r>
              <a:rPr lang="tr-TR" dirty="0"/>
              <a:t>hastalıkları ya da kraliçe arı sorunlarını henüz yayılmadan önce tespit etmek.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30B942-A563-48E6-9234-19BD6285EBCE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33854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Arıların sağlığını koruyarak </a:t>
            </a:r>
            <a:r>
              <a:rPr lang="tr-TR" b="1" dirty="0"/>
              <a:t>tarımsal üretkenliği </a:t>
            </a:r>
            <a:r>
              <a:rPr lang="tr-TR" b="1" dirty="0" err="1"/>
              <a:t>artırır</a:t>
            </a:r>
            <a:r>
              <a:rPr lang="tr-TR" dirty="0" err="1"/>
              <a:t>,tozlaşmanın</a:t>
            </a:r>
            <a:r>
              <a:rPr lang="tr-TR" dirty="0"/>
              <a:t> devamını sağlar ve </a:t>
            </a:r>
            <a:r>
              <a:rPr lang="tr-TR" b="1" dirty="0"/>
              <a:t>gıda güvenliğini destekler.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b="1" dirty="0"/>
              <a:t>Veriye dayalı arıcılık</a:t>
            </a:r>
            <a:r>
              <a:rPr lang="tr-TR" dirty="0"/>
              <a:t> ile atık ve kayıpların önlenmesi</a:t>
            </a:r>
          </a:p>
          <a:p>
            <a:r>
              <a:rPr lang="tr-TR" dirty="0"/>
              <a:t>Arıların korunması, </a:t>
            </a:r>
            <a:r>
              <a:rPr lang="tr-TR" b="1" dirty="0" err="1"/>
              <a:t>biyoçeşitliliğin</a:t>
            </a:r>
            <a:r>
              <a:rPr lang="tr-TR" b="1" dirty="0"/>
              <a:t> sürdürülmesi</a:t>
            </a:r>
            <a:r>
              <a:rPr lang="tr-TR" dirty="0"/>
              <a:t> için hayati öneme sahiptir.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30B942-A563-48E6-9234-19BD6285EBCE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7195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C562EFD-127B-8AD1-07E4-3A5066F75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529BC5C-D420-CCDB-C5AB-0D5DDB087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94060F3-7819-F7A6-7A8C-23754A65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4403-1DF9-49AD-89E9-0AFCE145F73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F00573A-03FC-F540-FF5D-FC80D7C17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C8A14AC-813B-E694-627A-C1B08876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B467-6886-47FD-91E0-CA7DA58D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8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0207D9-F373-58DA-EF37-93698648D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7D0122C-E223-D467-943E-FDC067932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AF1AA7A-3E77-EE09-A1DA-77100F3B2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4403-1DF9-49AD-89E9-0AFCE145F73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85E937-19EC-1051-E71D-B180E55F9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D9450E2-8DAC-ECBB-1B8C-17E878AF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B467-6886-47FD-91E0-CA7DA58D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53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FC2CE6-68F1-9A47-EFFE-90ABE2E9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1FE8ABD-434F-EB3F-8568-D1CA1FEDA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7135457-82CA-0145-AA6F-CAB09A6C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4403-1DF9-49AD-89E9-0AFCE145F73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320ED30-03C5-A034-268C-E60150BA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22DE218-213E-3D17-FD7A-37F38BC2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B467-6886-47FD-91E0-CA7DA58D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38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57B291-E701-4103-BFB8-C63A53C3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9BBA0FD-546B-1B51-CBF7-FAFA8999C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92DE092-006F-5FDD-FAA6-B67A0821A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5562A23-9395-71D5-193B-5551C11F8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4403-1DF9-49AD-89E9-0AFCE145F73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6AFB60C-96FA-B0AD-9B1D-806F623A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2ED1EB3-531C-595B-4120-8BDC555E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B467-6886-47FD-91E0-CA7DA58D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8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381AE64-2132-D9DE-ECB7-0E2191BC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C40D221-9735-47B3-6B31-D2A536A71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F2B62E1-F9A5-8A36-E3A6-6DFD4B86C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725279B-AED5-0366-F3A0-1E2CB9DBE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FA47EA5C-ACEF-E1DF-889E-1EFB8DE89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E4E11A7B-E4F6-A902-115D-DE7C3044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4403-1DF9-49AD-89E9-0AFCE145F73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673716B-F698-543D-4263-2403B328F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95484BC-6523-0FC9-7373-E57F6FD4D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B467-6886-47FD-91E0-CA7DA58D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25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AAE9EC-BDE7-8807-FF38-11ACA61F3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5EA96B3-8714-F2C3-550C-A54193D2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4403-1DF9-49AD-89E9-0AFCE145F73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BD96C54-3D7E-E6E6-5084-3082B61C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A47674A-2038-6199-C6AA-6E313324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B467-6886-47FD-91E0-CA7DA58D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1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8AE2342-E224-99FE-F6A7-399B62A17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4403-1DF9-49AD-89E9-0AFCE145F73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9DEFFD5-07DD-3642-C579-F498470E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1C263DA-A4E1-675C-9602-1E11B25D9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B467-6886-47FD-91E0-CA7DA58D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1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DFA065-A368-8810-2BBC-8FF35D098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A1F3951-0AAB-3F05-117D-469942376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72903D4-E786-A6BC-3DF3-F73510A12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A10DE8B-0C38-6F8D-66EC-15B8CA7F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4403-1DF9-49AD-89E9-0AFCE145F73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4AF360A-7203-596F-11F8-505D3466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87B4121-8A21-087C-0220-B2CB16CA1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B467-6886-47FD-91E0-CA7DA58D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45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84FCAD-94C3-6A3E-B0E1-F6E5684E3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8E0C172-BEFE-E1F8-E15B-24C2E8EA15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9267AF7-571A-4BA4-6023-CEE3B353E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7B67DA5-73C4-D497-0FED-07A602294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4403-1DF9-49AD-89E9-0AFCE145F73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FD4CA6A-F836-845D-1F32-399FB79B5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03C662C-05CE-8165-22D2-9A22870D1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B467-6886-47FD-91E0-CA7DA58D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2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63C80E5-26EF-4721-0913-7760B1CF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7674216-9515-512B-1BD3-419A4C678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DDAF4F3-FDB7-43F6-64C4-059E294B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4403-1DF9-49AD-89E9-0AFCE145F73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B7D10AD-84B0-23F2-381D-04AF8060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DB0DA5C-911C-9A9D-658F-1E6E835E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B467-6886-47FD-91E0-CA7DA58D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90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6F8B588F-B4F9-BF36-487B-17FED0BD5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AEAA9C7-A1B0-33BE-39F4-6172F95B6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9583EB8-8845-A346-CB52-B48200673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4403-1DF9-49AD-89E9-0AFCE145F73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B9D906C-EAB6-8FA4-F3AA-CDFEA7BB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EC3532A-2E20-21BD-5CC7-D135BF9A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B467-6886-47FD-91E0-CA7DA58D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1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CAEB18D1-023D-D9C7-3502-94D2E328F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D4EA315-D115-923A-EBFE-32F7D10E9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DA2F2F5-BE53-2FF9-8B7E-394C8015B9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04403-1DF9-49AD-89E9-0AFCE145F73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F38E5F9-1939-4046-05B4-DB5EEB83D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0D5E68-1E46-7F7D-E285-D04562A6B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4B467-6886-47FD-91E0-CA7DA58D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2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3.png"/><Relationship Id="rId5" Type="http://schemas.openxmlformats.org/officeDocument/2006/relationships/image" Target="../media/image11.svg"/><Relationship Id="rId10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20.png"/><Relationship Id="rId3" Type="http://schemas.openxmlformats.org/officeDocument/2006/relationships/slide" Target="slide8.xml"/><Relationship Id="rId7" Type="http://schemas.openxmlformats.org/officeDocument/2006/relationships/image" Target="../media/image200.png"/><Relationship Id="rId12" Type="http://schemas.openxmlformats.org/officeDocument/2006/relationships/slide" Target="slide10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image" Target="../media/image22.png"/><Relationship Id="rId5" Type="http://schemas.openxmlformats.org/officeDocument/2006/relationships/image" Target="../media/image20.png"/><Relationship Id="rId15" Type="http://schemas.openxmlformats.org/officeDocument/2006/relationships/image" Target="../media/image3.pn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slide" Target="slide11.xml"/><Relationship Id="rId1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oplu arı ölümleri ekosistemi bozuyor - Son Dakika Haberleri">
            <a:extLst>
              <a:ext uri="{FF2B5EF4-FFF2-40B4-BE49-F238E27FC236}">
                <a16:creationId xmlns:a16="http://schemas.microsoft.com/office/drawing/2014/main" id="{2BAAD956-2619-1EAF-64FD-8AD945AF2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24272CAC-98B3-77B7-B2B5-4BF0ADE2B3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B667B-29C4-EB8A-03CB-9B314888F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3276"/>
            <a:ext cx="9144000" cy="2387600"/>
          </a:xfrm>
        </p:spPr>
        <p:txBody>
          <a:bodyPr>
            <a:normAutofit/>
          </a:bodyPr>
          <a:lstStyle/>
          <a:p>
            <a:r>
              <a:rPr lang="tr-TR" sz="8000" dirty="0" err="1">
                <a:solidFill>
                  <a:srgbClr val="FF9933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BeeMelody</a:t>
            </a:r>
            <a:endParaRPr lang="en-US" sz="8000" dirty="0">
              <a:solidFill>
                <a:srgbClr val="FF9933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98A4E-49F2-A140-6A2F-41D0EC08D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0520"/>
            <a:ext cx="9144000" cy="10972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tr-TR" sz="2800" b="1" dirty="0">
                <a:solidFill>
                  <a:schemeClr val="accent5">
                    <a:lumMod val="75000"/>
                  </a:schemeClr>
                </a:solidFill>
              </a:rPr>
              <a:t>Berna ÇAKIR</a:t>
            </a:r>
            <a:endParaRPr lang="en-US" sz="2800" b="1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tr-TR" b="1">
                <a:solidFill>
                  <a:schemeClr val="accent5">
                    <a:lumMod val="75000"/>
                  </a:schemeClr>
                </a:solidFill>
              </a:rPr>
              <a:t>04.12.2025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1A9FDF-5859-6B03-78D2-3D8811C6C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6276" y="5549462"/>
            <a:ext cx="584436" cy="117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38F8AA-D456-5D05-F5D1-DCB621C77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889" y="5814077"/>
            <a:ext cx="2092084" cy="6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14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0D441D-6350-1737-A7AF-F3C86F159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50880" cy="1006475"/>
          </a:xfrm>
        </p:spPr>
        <p:txBody>
          <a:bodyPr/>
          <a:lstStyle/>
          <a:p>
            <a:pPr algn="ctr"/>
            <a:r>
              <a:rPr lang="tr-TR" sz="4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PROBLEM TANIMI</a:t>
            </a:r>
            <a:endParaRPr lang="tr-TR" dirty="0"/>
          </a:p>
        </p:txBody>
      </p:sp>
      <p:grpSp>
        <p:nvGrpSpPr>
          <p:cNvPr id="57" name="Grup 56">
            <a:extLst>
              <a:ext uri="{FF2B5EF4-FFF2-40B4-BE49-F238E27FC236}">
                <a16:creationId xmlns:a16="http://schemas.microsoft.com/office/drawing/2014/main" id="{CC48A960-615D-26BD-FCC6-9D2E1176E1F4}"/>
              </a:ext>
            </a:extLst>
          </p:cNvPr>
          <p:cNvGrpSpPr/>
          <p:nvPr/>
        </p:nvGrpSpPr>
        <p:grpSpPr>
          <a:xfrm>
            <a:off x="8553842" y="1953943"/>
            <a:ext cx="2197767" cy="1817225"/>
            <a:chOff x="8973153" y="1883239"/>
            <a:chExt cx="2197767" cy="1817225"/>
          </a:xfrm>
        </p:grpSpPr>
        <p:pic>
          <p:nvPicPr>
            <p:cNvPr id="9" name="Resim 8">
              <a:extLst>
                <a:ext uri="{FF2B5EF4-FFF2-40B4-BE49-F238E27FC236}">
                  <a16:creationId xmlns:a16="http://schemas.microsoft.com/office/drawing/2014/main" id="{DA3F9EC1-A248-5BAE-4D7A-E3189DB141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9714"/>
            <a:stretch/>
          </p:blipFill>
          <p:spPr>
            <a:xfrm>
              <a:off x="8973153" y="2191939"/>
              <a:ext cx="2197767" cy="1341236"/>
            </a:xfrm>
            <a:prstGeom prst="rect">
              <a:avLst/>
            </a:prstGeom>
          </p:spPr>
        </p:pic>
        <p:sp>
          <p:nvSpPr>
            <p:cNvPr id="49" name="Altıgen 48">
              <a:extLst>
                <a:ext uri="{FF2B5EF4-FFF2-40B4-BE49-F238E27FC236}">
                  <a16:creationId xmlns:a16="http://schemas.microsoft.com/office/drawing/2014/main" id="{DB0D1E5E-C5DE-480D-4875-96FFE0BA3C72}"/>
                </a:ext>
              </a:extLst>
            </p:cNvPr>
            <p:cNvSpPr/>
            <p:nvPr/>
          </p:nvSpPr>
          <p:spPr>
            <a:xfrm>
              <a:off x="8973153" y="1883239"/>
              <a:ext cx="2083443" cy="1817225"/>
            </a:xfrm>
            <a:prstGeom prst="hexagon">
              <a:avLst/>
            </a:prstGeom>
            <a:noFill/>
            <a:ln w="571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grpSp>
        <p:nvGrpSpPr>
          <p:cNvPr id="58" name="Grup 57">
            <a:extLst>
              <a:ext uri="{FF2B5EF4-FFF2-40B4-BE49-F238E27FC236}">
                <a16:creationId xmlns:a16="http://schemas.microsoft.com/office/drawing/2014/main" id="{96470EA0-E4E0-9CFF-A33F-B7CFED746B6C}"/>
              </a:ext>
            </a:extLst>
          </p:cNvPr>
          <p:cNvGrpSpPr/>
          <p:nvPr/>
        </p:nvGrpSpPr>
        <p:grpSpPr>
          <a:xfrm>
            <a:off x="4815265" y="4719998"/>
            <a:ext cx="3664014" cy="1817225"/>
            <a:chOff x="4815265" y="4719998"/>
            <a:chExt cx="3664014" cy="1817225"/>
          </a:xfrm>
        </p:grpSpPr>
        <p:pic>
          <p:nvPicPr>
            <p:cNvPr id="11" name="Resim 10">
              <a:extLst>
                <a:ext uri="{FF2B5EF4-FFF2-40B4-BE49-F238E27FC236}">
                  <a16:creationId xmlns:a16="http://schemas.microsoft.com/office/drawing/2014/main" id="{07963723-F898-3390-B042-1BD80D787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15265" y="5038071"/>
              <a:ext cx="3664014" cy="1347333"/>
            </a:xfrm>
            <a:prstGeom prst="rect">
              <a:avLst/>
            </a:prstGeom>
          </p:spPr>
        </p:pic>
        <p:sp>
          <p:nvSpPr>
            <p:cNvPr id="51" name="Altıgen 50">
              <a:extLst>
                <a:ext uri="{FF2B5EF4-FFF2-40B4-BE49-F238E27FC236}">
                  <a16:creationId xmlns:a16="http://schemas.microsoft.com/office/drawing/2014/main" id="{CD8D3E22-834F-7C11-F522-B3CC45A3379E}"/>
                </a:ext>
              </a:extLst>
            </p:cNvPr>
            <p:cNvSpPr/>
            <p:nvPr/>
          </p:nvSpPr>
          <p:spPr>
            <a:xfrm>
              <a:off x="5035348" y="4719998"/>
              <a:ext cx="2083443" cy="1817225"/>
            </a:xfrm>
            <a:prstGeom prst="hexagon">
              <a:avLst/>
            </a:prstGeom>
            <a:noFill/>
            <a:ln w="57150">
              <a:solidFill>
                <a:srgbClr val="A6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56" name="Grup 55">
            <a:extLst>
              <a:ext uri="{FF2B5EF4-FFF2-40B4-BE49-F238E27FC236}">
                <a16:creationId xmlns:a16="http://schemas.microsoft.com/office/drawing/2014/main" id="{E1F99307-9594-938C-FD37-CB82E1BF11F2}"/>
              </a:ext>
            </a:extLst>
          </p:cNvPr>
          <p:cNvGrpSpPr/>
          <p:nvPr/>
        </p:nvGrpSpPr>
        <p:grpSpPr>
          <a:xfrm>
            <a:off x="4898392" y="1978150"/>
            <a:ext cx="2357354" cy="1817225"/>
            <a:chOff x="4898393" y="1883237"/>
            <a:chExt cx="2357354" cy="1817225"/>
          </a:xfrm>
        </p:grpSpPr>
        <p:sp>
          <p:nvSpPr>
            <p:cNvPr id="52" name="Altıgen 51">
              <a:extLst>
                <a:ext uri="{FF2B5EF4-FFF2-40B4-BE49-F238E27FC236}">
                  <a16:creationId xmlns:a16="http://schemas.microsoft.com/office/drawing/2014/main" id="{69D32B3F-6FE1-E4C1-C368-0064AFB9A8DC}"/>
                </a:ext>
              </a:extLst>
            </p:cNvPr>
            <p:cNvSpPr/>
            <p:nvPr/>
          </p:nvSpPr>
          <p:spPr>
            <a:xfrm>
              <a:off x="5054277" y="1883237"/>
              <a:ext cx="2083443" cy="1817225"/>
            </a:xfrm>
            <a:prstGeom prst="hexagon">
              <a:avLst/>
            </a:prstGeom>
            <a:noFill/>
            <a:ln w="571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53" name="Resim 52">
              <a:extLst>
                <a:ext uri="{FF2B5EF4-FFF2-40B4-BE49-F238E27FC236}">
                  <a16:creationId xmlns:a16="http://schemas.microsoft.com/office/drawing/2014/main" id="{B74E533D-62DB-98EA-6A63-EFE1D5AFD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98393" y="2139921"/>
              <a:ext cx="2357354" cy="1347686"/>
            </a:xfrm>
            <a:prstGeom prst="rect">
              <a:avLst/>
            </a:prstGeom>
          </p:spPr>
        </p:pic>
      </p:grpSp>
      <p:grpSp>
        <p:nvGrpSpPr>
          <p:cNvPr id="55" name="Grup 54">
            <a:extLst>
              <a:ext uri="{FF2B5EF4-FFF2-40B4-BE49-F238E27FC236}">
                <a16:creationId xmlns:a16="http://schemas.microsoft.com/office/drawing/2014/main" id="{16A4F25F-EBB9-2708-28C1-8352B7FC95BF}"/>
              </a:ext>
            </a:extLst>
          </p:cNvPr>
          <p:cNvGrpSpPr/>
          <p:nvPr/>
        </p:nvGrpSpPr>
        <p:grpSpPr>
          <a:xfrm>
            <a:off x="1627638" y="1953944"/>
            <a:ext cx="2128542" cy="1817225"/>
            <a:chOff x="1228900" y="1967497"/>
            <a:chExt cx="2128542" cy="1817225"/>
          </a:xfrm>
        </p:grpSpPr>
        <p:pic>
          <p:nvPicPr>
            <p:cNvPr id="50" name="Resim 49">
              <a:extLst>
                <a:ext uri="{FF2B5EF4-FFF2-40B4-BE49-F238E27FC236}">
                  <a16:creationId xmlns:a16="http://schemas.microsoft.com/office/drawing/2014/main" id="{A2B6E80F-EC0C-E5E0-BC13-A62CDE93EB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43699" b="7531"/>
            <a:stretch/>
          </p:blipFill>
          <p:spPr>
            <a:xfrm>
              <a:off x="1228900" y="2213803"/>
              <a:ext cx="2083444" cy="1347333"/>
            </a:xfrm>
            <a:prstGeom prst="rect">
              <a:avLst/>
            </a:prstGeom>
          </p:spPr>
        </p:pic>
        <p:sp>
          <p:nvSpPr>
            <p:cNvPr id="54" name="Altıgen 53">
              <a:extLst>
                <a:ext uri="{FF2B5EF4-FFF2-40B4-BE49-F238E27FC236}">
                  <a16:creationId xmlns:a16="http://schemas.microsoft.com/office/drawing/2014/main" id="{79DCF425-61F9-30E7-7AAA-FC66E379D0B4}"/>
                </a:ext>
              </a:extLst>
            </p:cNvPr>
            <p:cNvSpPr/>
            <p:nvPr/>
          </p:nvSpPr>
          <p:spPr>
            <a:xfrm>
              <a:off x="1273999" y="1967497"/>
              <a:ext cx="2083443" cy="1817225"/>
            </a:xfrm>
            <a:prstGeom prst="hexagon">
              <a:avLst/>
            </a:prstGeom>
            <a:noFill/>
            <a:ln w="571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grpSp>
        <p:nvGrpSpPr>
          <p:cNvPr id="59" name="Group 2">
            <a:extLst>
              <a:ext uri="{FF2B5EF4-FFF2-40B4-BE49-F238E27FC236}">
                <a16:creationId xmlns:a16="http://schemas.microsoft.com/office/drawing/2014/main" id="{2280F28F-D74E-E416-D134-8E76E55D3A07}"/>
              </a:ext>
            </a:extLst>
          </p:cNvPr>
          <p:cNvGrpSpPr/>
          <p:nvPr/>
        </p:nvGrpSpPr>
        <p:grpSpPr>
          <a:xfrm>
            <a:off x="10269520" y="212233"/>
            <a:ext cx="964178" cy="792001"/>
            <a:chOff x="0" y="0"/>
            <a:chExt cx="812800" cy="698500"/>
          </a:xfrm>
        </p:grpSpPr>
        <p:sp>
          <p:nvSpPr>
            <p:cNvPr id="60" name="Freeform 3">
              <a:extLst>
                <a:ext uri="{FF2B5EF4-FFF2-40B4-BE49-F238E27FC236}">
                  <a16:creationId xmlns:a16="http://schemas.microsoft.com/office/drawing/2014/main" id="{CDED3A77-15EC-B529-2C64-A570767ABA36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105"/>
            </a:solidFill>
          </p:spPr>
        </p:sp>
        <p:sp>
          <p:nvSpPr>
            <p:cNvPr id="61" name="TextBox 4">
              <a:extLst>
                <a:ext uri="{FF2B5EF4-FFF2-40B4-BE49-F238E27FC236}">
                  <a16:creationId xmlns:a16="http://schemas.microsoft.com/office/drawing/2014/main" id="{1C2D77B8-DC7D-7BE0-3C3C-B85EB030311F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279779" tIns="279779" rIns="279779" bIns="27977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2" name="Group 5">
            <a:extLst>
              <a:ext uri="{FF2B5EF4-FFF2-40B4-BE49-F238E27FC236}">
                <a16:creationId xmlns:a16="http://schemas.microsoft.com/office/drawing/2014/main" id="{E77E3FBE-3195-6955-FAEA-7445B808C392}"/>
              </a:ext>
            </a:extLst>
          </p:cNvPr>
          <p:cNvGrpSpPr/>
          <p:nvPr/>
        </p:nvGrpSpPr>
        <p:grpSpPr>
          <a:xfrm>
            <a:off x="356608" y="4735231"/>
            <a:ext cx="921600" cy="835200"/>
            <a:chOff x="0" y="0"/>
            <a:chExt cx="812800" cy="698500"/>
          </a:xfrm>
        </p:grpSpPr>
        <p:sp>
          <p:nvSpPr>
            <p:cNvPr id="63" name="Freeform 6">
              <a:extLst>
                <a:ext uri="{FF2B5EF4-FFF2-40B4-BE49-F238E27FC236}">
                  <a16:creationId xmlns:a16="http://schemas.microsoft.com/office/drawing/2014/main" id="{7FFDBEF7-9E6F-660A-E9B7-71E9EE0ADEA2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105"/>
            </a:solidFill>
          </p:spPr>
        </p:sp>
        <p:sp>
          <p:nvSpPr>
            <p:cNvPr id="64" name="TextBox 7">
              <a:extLst>
                <a:ext uri="{FF2B5EF4-FFF2-40B4-BE49-F238E27FC236}">
                  <a16:creationId xmlns:a16="http://schemas.microsoft.com/office/drawing/2014/main" id="{7662DB4D-E41F-3EBA-EFF7-4FB6BC7AC04B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279779" tIns="279779" rIns="279779" bIns="27977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9" name="Group 2">
            <a:extLst>
              <a:ext uri="{FF2B5EF4-FFF2-40B4-BE49-F238E27FC236}">
                <a16:creationId xmlns:a16="http://schemas.microsoft.com/office/drawing/2014/main" id="{991C0953-2215-0E0E-890D-089E90AEAC66}"/>
              </a:ext>
            </a:extLst>
          </p:cNvPr>
          <p:cNvGrpSpPr>
            <a:grpSpLocks noChangeAspect="1"/>
          </p:cNvGrpSpPr>
          <p:nvPr/>
        </p:nvGrpSpPr>
        <p:grpSpPr>
          <a:xfrm>
            <a:off x="11339997" y="1534947"/>
            <a:ext cx="1089164" cy="936000"/>
            <a:chOff x="0" y="0"/>
            <a:chExt cx="812800" cy="698500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B0193943-E041-4CAA-B654-5F80A45E1E57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2F5A7BC6-8BD8-3383-62C4-DC295690B71A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71EF6F8F-D789-240B-63BD-02A4E2AD87A6}"/>
              </a:ext>
            </a:extLst>
          </p:cNvPr>
          <p:cNvGrpSpPr>
            <a:grpSpLocks noChangeAspect="1"/>
          </p:cNvGrpSpPr>
          <p:nvPr/>
        </p:nvGrpSpPr>
        <p:grpSpPr>
          <a:xfrm>
            <a:off x="10302259" y="-692402"/>
            <a:ext cx="921600" cy="792000"/>
            <a:chOff x="0" y="0"/>
            <a:chExt cx="812800" cy="698500"/>
          </a:xfrm>
        </p:grpSpPr>
        <p:sp>
          <p:nvSpPr>
            <p:cNvPr id="33" name="Freeform 3">
              <a:extLst>
                <a:ext uri="{FF2B5EF4-FFF2-40B4-BE49-F238E27FC236}">
                  <a16:creationId xmlns:a16="http://schemas.microsoft.com/office/drawing/2014/main" id="{7028F5DB-4633-8932-009D-31D80580E89D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34" name="TextBox 4">
              <a:extLst>
                <a:ext uri="{FF2B5EF4-FFF2-40B4-BE49-F238E27FC236}">
                  <a16:creationId xmlns:a16="http://schemas.microsoft.com/office/drawing/2014/main" id="{444B4676-4B4C-80BE-8854-627E6EBB1068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35" name="Group 2">
            <a:extLst>
              <a:ext uri="{FF2B5EF4-FFF2-40B4-BE49-F238E27FC236}">
                <a16:creationId xmlns:a16="http://schemas.microsoft.com/office/drawing/2014/main" id="{3EF69CDC-0A88-8A3A-9664-BF60BB199B8E}"/>
              </a:ext>
            </a:extLst>
          </p:cNvPr>
          <p:cNvGrpSpPr>
            <a:grpSpLocks noChangeAspect="1"/>
          </p:cNvGrpSpPr>
          <p:nvPr/>
        </p:nvGrpSpPr>
        <p:grpSpPr>
          <a:xfrm>
            <a:off x="11094259" y="-166341"/>
            <a:ext cx="921600" cy="792000"/>
            <a:chOff x="0" y="0"/>
            <a:chExt cx="812800" cy="698500"/>
          </a:xfrm>
        </p:grpSpPr>
        <p:sp>
          <p:nvSpPr>
            <p:cNvPr id="36" name="Freeform 3">
              <a:extLst>
                <a:ext uri="{FF2B5EF4-FFF2-40B4-BE49-F238E27FC236}">
                  <a16:creationId xmlns:a16="http://schemas.microsoft.com/office/drawing/2014/main" id="{F3C157A4-2200-94AB-7132-8F4885B5E8B6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37" name="TextBox 4">
              <a:extLst>
                <a:ext uri="{FF2B5EF4-FFF2-40B4-BE49-F238E27FC236}">
                  <a16:creationId xmlns:a16="http://schemas.microsoft.com/office/drawing/2014/main" id="{4DA054DD-0E7E-BCBB-B86F-944C1D87AFBC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38" name="Group 2">
            <a:extLst>
              <a:ext uri="{FF2B5EF4-FFF2-40B4-BE49-F238E27FC236}">
                <a16:creationId xmlns:a16="http://schemas.microsoft.com/office/drawing/2014/main" id="{1CEBA156-8A2E-8F03-778A-CD59A0A2A4F1}"/>
              </a:ext>
            </a:extLst>
          </p:cNvPr>
          <p:cNvGrpSpPr>
            <a:grpSpLocks noChangeAspect="1"/>
          </p:cNvGrpSpPr>
          <p:nvPr/>
        </p:nvGrpSpPr>
        <p:grpSpPr>
          <a:xfrm>
            <a:off x="356608" y="5944832"/>
            <a:ext cx="921600" cy="792000"/>
            <a:chOff x="0" y="0"/>
            <a:chExt cx="812800" cy="698500"/>
          </a:xfrm>
        </p:grpSpPr>
        <p:sp>
          <p:nvSpPr>
            <p:cNvPr id="39" name="Freeform 3">
              <a:extLst>
                <a:ext uri="{FF2B5EF4-FFF2-40B4-BE49-F238E27FC236}">
                  <a16:creationId xmlns:a16="http://schemas.microsoft.com/office/drawing/2014/main" id="{DFF2B804-95A8-7A76-E42E-D61C82E829FE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40" name="TextBox 4">
              <a:extLst>
                <a:ext uri="{FF2B5EF4-FFF2-40B4-BE49-F238E27FC236}">
                  <a16:creationId xmlns:a16="http://schemas.microsoft.com/office/drawing/2014/main" id="{56583AB3-8BE5-8E4A-476D-CEA84AA62A68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41" name="Group 2">
            <a:extLst>
              <a:ext uri="{FF2B5EF4-FFF2-40B4-BE49-F238E27FC236}">
                <a16:creationId xmlns:a16="http://schemas.microsoft.com/office/drawing/2014/main" id="{F4D46737-3960-D3CB-F69C-BBB7273DC645}"/>
              </a:ext>
            </a:extLst>
          </p:cNvPr>
          <p:cNvGrpSpPr>
            <a:grpSpLocks noChangeAspect="1"/>
          </p:cNvGrpSpPr>
          <p:nvPr/>
        </p:nvGrpSpPr>
        <p:grpSpPr>
          <a:xfrm>
            <a:off x="-371008" y="4360830"/>
            <a:ext cx="921600" cy="792000"/>
            <a:chOff x="0" y="0"/>
            <a:chExt cx="812800" cy="698500"/>
          </a:xfrm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CCFE7830-C43E-9D51-C738-372E909973B9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43" name="TextBox 4">
              <a:extLst>
                <a:ext uri="{FF2B5EF4-FFF2-40B4-BE49-F238E27FC236}">
                  <a16:creationId xmlns:a16="http://schemas.microsoft.com/office/drawing/2014/main" id="{820F8460-40BF-730E-954E-69FFDFF82A1A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44" name="Group 2">
            <a:extLst>
              <a:ext uri="{FF2B5EF4-FFF2-40B4-BE49-F238E27FC236}">
                <a16:creationId xmlns:a16="http://schemas.microsoft.com/office/drawing/2014/main" id="{30287781-C22E-99F2-D39C-575742E525DC}"/>
              </a:ext>
            </a:extLst>
          </p:cNvPr>
          <p:cNvGrpSpPr>
            <a:grpSpLocks noChangeAspect="1"/>
          </p:cNvGrpSpPr>
          <p:nvPr/>
        </p:nvGrpSpPr>
        <p:grpSpPr>
          <a:xfrm>
            <a:off x="1643304" y="5700875"/>
            <a:ext cx="921600" cy="792000"/>
            <a:chOff x="0" y="0"/>
            <a:chExt cx="812800" cy="698500"/>
          </a:xfrm>
        </p:grpSpPr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501A1B66-D389-B1A2-E88E-7F7F86E94EC5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83880296-95A7-424E-B520-4E56318CF1B3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pic>
        <p:nvPicPr>
          <p:cNvPr id="47" name="Picture 2">
            <a:extLst>
              <a:ext uri="{FF2B5EF4-FFF2-40B4-BE49-F238E27FC236}">
                <a16:creationId xmlns:a16="http://schemas.microsoft.com/office/drawing/2014/main" id="{0A43A805-FCD6-275F-28B6-A39C9B6C7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6276" y="5549462"/>
            <a:ext cx="584436" cy="117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6">
            <a:extLst>
              <a:ext uri="{FF2B5EF4-FFF2-40B4-BE49-F238E27FC236}">
                <a16:creationId xmlns:a16="http://schemas.microsoft.com/office/drawing/2014/main" id="{B4EB9C64-D303-9E47-050F-D5F55342FE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2889" y="5814077"/>
            <a:ext cx="2092084" cy="6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2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0D441D-6350-1737-A7AF-F3C86F159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50880" cy="1006475"/>
          </a:xfrm>
        </p:spPr>
        <p:txBody>
          <a:bodyPr/>
          <a:lstStyle/>
          <a:p>
            <a:pPr algn="ctr"/>
            <a:r>
              <a:rPr lang="tr-TR" sz="4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ÇÖZÜM: </a:t>
            </a:r>
            <a:r>
              <a:rPr lang="tr-TR" sz="4400" b="1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BeeMelody</a:t>
            </a:r>
            <a:endParaRPr lang="tr-TR" dirty="0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2A30535-458A-D8A7-5A19-C5445A5B0CCA}"/>
              </a:ext>
            </a:extLst>
          </p:cNvPr>
          <p:cNvSpPr txBox="1"/>
          <p:nvPr/>
        </p:nvSpPr>
        <p:spPr>
          <a:xfrm>
            <a:off x="1504320" y="2399607"/>
            <a:ext cx="97227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dirty="0" err="1"/>
              <a:t>BeeMelody</a:t>
            </a:r>
            <a:r>
              <a:rPr lang="tr-TR" sz="3000" dirty="0"/>
              <a:t>, arıların seslerinden ve görüntülerinden yola çıkarak kovanın sağlık durumunu analiz eden bir yapay zekâ sistemidir.</a:t>
            </a:r>
          </a:p>
        </p:txBody>
      </p:sp>
      <p:grpSp>
        <p:nvGrpSpPr>
          <p:cNvPr id="30" name="Group 2">
            <a:extLst>
              <a:ext uri="{FF2B5EF4-FFF2-40B4-BE49-F238E27FC236}">
                <a16:creationId xmlns:a16="http://schemas.microsoft.com/office/drawing/2014/main" id="{03395750-8231-A0B0-95C0-FCB220718A4F}"/>
              </a:ext>
            </a:extLst>
          </p:cNvPr>
          <p:cNvGrpSpPr>
            <a:grpSpLocks noChangeAspect="1"/>
          </p:cNvGrpSpPr>
          <p:nvPr/>
        </p:nvGrpSpPr>
        <p:grpSpPr>
          <a:xfrm>
            <a:off x="-308679" y="1785948"/>
            <a:ext cx="1089164" cy="936000"/>
            <a:chOff x="0" y="0"/>
            <a:chExt cx="812800" cy="698500"/>
          </a:xfrm>
        </p:grpSpPr>
        <p:sp>
          <p:nvSpPr>
            <p:cNvPr id="31" name="Freeform 3">
              <a:extLst>
                <a:ext uri="{FF2B5EF4-FFF2-40B4-BE49-F238E27FC236}">
                  <a16:creationId xmlns:a16="http://schemas.microsoft.com/office/drawing/2014/main" id="{7696076D-CD29-E172-8BD9-E71825AEF456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32" name="TextBox 4">
              <a:extLst>
                <a:ext uri="{FF2B5EF4-FFF2-40B4-BE49-F238E27FC236}">
                  <a16:creationId xmlns:a16="http://schemas.microsoft.com/office/drawing/2014/main" id="{2AF1C12A-8C47-7375-A40F-D606F4729EED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21D311AB-5050-D516-99BB-54CCBA4147A9}"/>
              </a:ext>
            </a:extLst>
          </p:cNvPr>
          <p:cNvGrpSpPr>
            <a:grpSpLocks noChangeAspect="1"/>
          </p:cNvGrpSpPr>
          <p:nvPr/>
        </p:nvGrpSpPr>
        <p:grpSpPr>
          <a:xfrm>
            <a:off x="1374720" y="386001"/>
            <a:ext cx="921600" cy="792000"/>
            <a:chOff x="0" y="0"/>
            <a:chExt cx="812800" cy="698500"/>
          </a:xfrm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5F90A2C2-4FE0-4DD2-4F0D-6BE198DF276E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DD3C8E9D-692E-83CC-8083-CAEC11FD9C0E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36" name="Group 2">
            <a:extLst>
              <a:ext uri="{FF2B5EF4-FFF2-40B4-BE49-F238E27FC236}">
                <a16:creationId xmlns:a16="http://schemas.microsoft.com/office/drawing/2014/main" id="{1E15103D-9012-8531-85EE-AA6942C12A1E}"/>
              </a:ext>
            </a:extLst>
          </p:cNvPr>
          <p:cNvGrpSpPr>
            <a:grpSpLocks noChangeAspect="1"/>
          </p:cNvGrpSpPr>
          <p:nvPr/>
        </p:nvGrpSpPr>
        <p:grpSpPr>
          <a:xfrm>
            <a:off x="-390168" y="-267899"/>
            <a:ext cx="921600" cy="792000"/>
            <a:chOff x="0" y="0"/>
            <a:chExt cx="812800" cy="698500"/>
          </a:xfrm>
        </p:grpSpPr>
        <p:sp>
          <p:nvSpPr>
            <p:cNvPr id="37" name="Freeform 3">
              <a:extLst>
                <a:ext uri="{FF2B5EF4-FFF2-40B4-BE49-F238E27FC236}">
                  <a16:creationId xmlns:a16="http://schemas.microsoft.com/office/drawing/2014/main" id="{E3A3CB3B-B5DC-2C67-1843-9A3CAF685EFC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38" name="TextBox 4">
              <a:extLst>
                <a:ext uri="{FF2B5EF4-FFF2-40B4-BE49-F238E27FC236}">
                  <a16:creationId xmlns:a16="http://schemas.microsoft.com/office/drawing/2014/main" id="{25A02E4C-1C5C-C4BA-5F2E-B6AEE389E88D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79" name="Group 2">
            <a:extLst>
              <a:ext uri="{FF2B5EF4-FFF2-40B4-BE49-F238E27FC236}">
                <a16:creationId xmlns:a16="http://schemas.microsoft.com/office/drawing/2014/main" id="{C7D6F309-EFA7-BBC7-7C0E-7DE71F00BD5B}"/>
              </a:ext>
            </a:extLst>
          </p:cNvPr>
          <p:cNvGrpSpPr>
            <a:grpSpLocks noChangeAspect="1"/>
          </p:cNvGrpSpPr>
          <p:nvPr/>
        </p:nvGrpSpPr>
        <p:grpSpPr>
          <a:xfrm>
            <a:off x="7524681" y="6024875"/>
            <a:ext cx="1089164" cy="936000"/>
            <a:chOff x="0" y="0"/>
            <a:chExt cx="812800" cy="698500"/>
          </a:xfrm>
        </p:grpSpPr>
        <p:sp>
          <p:nvSpPr>
            <p:cNvPr id="80" name="Freeform 3">
              <a:extLst>
                <a:ext uri="{FF2B5EF4-FFF2-40B4-BE49-F238E27FC236}">
                  <a16:creationId xmlns:a16="http://schemas.microsoft.com/office/drawing/2014/main" id="{E52A3AA0-23DB-0E43-FEE5-258C3E0F1747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81" name="TextBox 4">
              <a:extLst>
                <a:ext uri="{FF2B5EF4-FFF2-40B4-BE49-F238E27FC236}">
                  <a16:creationId xmlns:a16="http://schemas.microsoft.com/office/drawing/2014/main" id="{B3B07C8E-DC5F-EB80-5FBC-66EF1238CC69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82" name="Group 2">
            <a:extLst>
              <a:ext uri="{FF2B5EF4-FFF2-40B4-BE49-F238E27FC236}">
                <a16:creationId xmlns:a16="http://schemas.microsoft.com/office/drawing/2014/main" id="{7EE1F4EB-D5E0-3344-D5D9-EFCA52DF780B}"/>
              </a:ext>
            </a:extLst>
          </p:cNvPr>
          <p:cNvGrpSpPr>
            <a:grpSpLocks noChangeAspect="1"/>
          </p:cNvGrpSpPr>
          <p:nvPr/>
        </p:nvGrpSpPr>
        <p:grpSpPr>
          <a:xfrm>
            <a:off x="9817680" y="4272935"/>
            <a:ext cx="921600" cy="792000"/>
            <a:chOff x="0" y="0"/>
            <a:chExt cx="812800" cy="698500"/>
          </a:xfrm>
        </p:grpSpPr>
        <p:sp>
          <p:nvSpPr>
            <p:cNvPr id="83" name="Freeform 3">
              <a:extLst>
                <a:ext uri="{FF2B5EF4-FFF2-40B4-BE49-F238E27FC236}">
                  <a16:creationId xmlns:a16="http://schemas.microsoft.com/office/drawing/2014/main" id="{AC535DEA-42C5-3992-0863-3A588EA3EC4C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84" name="TextBox 4">
              <a:extLst>
                <a:ext uri="{FF2B5EF4-FFF2-40B4-BE49-F238E27FC236}">
                  <a16:creationId xmlns:a16="http://schemas.microsoft.com/office/drawing/2014/main" id="{675F56AF-A161-5A7A-0435-2C20BD957EAE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85" name="Group 2">
            <a:extLst>
              <a:ext uri="{FF2B5EF4-FFF2-40B4-BE49-F238E27FC236}">
                <a16:creationId xmlns:a16="http://schemas.microsoft.com/office/drawing/2014/main" id="{A4E9BBD8-27FE-91FD-D1B0-039CEB00211E}"/>
              </a:ext>
            </a:extLst>
          </p:cNvPr>
          <p:cNvGrpSpPr>
            <a:grpSpLocks noChangeAspect="1"/>
          </p:cNvGrpSpPr>
          <p:nvPr/>
        </p:nvGrpSpPr>
        <p:grpSpPr>
          <a:xfrm>
            <a:off x="10609680" y="4798996"/>
            <a:ext cx="921600" cy="792000"/>
            <a:chOff x="0" y="0"/>
            <a:chExt cx="812800" cy="698500"/>
          </a:xfrm>
        </p:grpSpPr>
        <p:sp>
          <p:nvSpPr>
            <p:cNvPr id="86" name="Freeform 3">
              <a:extLst>
                <a:ext uri="{FF2B5EF4-FFF2-40B4-BE49-F238E27FC236}">
                  <a16:creationId xmlns:a16="http://schemas.microsoft.com/office/drawing/2014/main" id="{DA872340-5D8A-779C-27D6-B3638737145B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87" name="TextBox 4">
              <a:extLst>
                <a:ext uri="{FF2B5EF4-FFF2-40B4-BE49-F238E27FC236}">
                  <a16:creationId xmlns:a16="http://schemas.microsoft.com/office/drawing/2014/main" id="{EC593B32-74A8-2863-C5F5-110941142128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88" name="Group 2">
            <a:extLst>
              <a:ext uri="{FF2B5EF4-FFF2-40B4-BE49-F238E27FC236}">
                <a16:creationId xmlns:a16="http://schemas.microsoft.com/office/drawing/2014/main" id="{40440461-0802-9DDF-E292-F8C3486CE81F}"/>
              </a:ext>
            </a:extLst>
          </p:cNvPr>
          <p:cNvGrpSpPr>
            <a:grpSpLocks noChangeAspect="1"/>
          </p:cNvGrpSpPr>
          <p:nvPr/>
        </p:nvGrpSpPr>
        <p:grpSpPr>
          <a:xfrm>
            <a:off x="11270400" y="3480935"/>
            <a:ext cx="921600" cy="792000"/>
            <a:chOff x="0" y="0"/>
            <a:chExt cx="812800" cy="698500"/>
          </a:xfrm>
        </p:grpSpPr>
        <p:sp>
          <p:nvSpPr>
            <p:cNvPr id="89" name="Freeform 3">
              <a:extLst>
                <a:ext uri="{FF2B5EF4-FFF2-40B4-BE49-F238E27FC236}">
                  <a16:creationId xmlns:a16="http://schemas.microsoft.com/office/drawing/2014/main" id="{4F570665-EB89-659D-B5F9-C9DD41C633C7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90" name="TextBox 4">
              <a:extLst>
                <a:ext uri="{FF2B5EF4-FFF2-40B4-BE49-F238E27FC236}">
                  <a16:creationId xmlns:a16="http://schemas.microsoft.com/office/drawing/2014/main" id="{E87A180F-7689-3627-B2D6-5A921F25BAB2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91" name="Group 2">
            <a:extLst>
              <a:ext uri="{FF2B5EF4-FFF2-40B4-BE49-F238E27FC236}">
                <a16:creationId xmlns:a16="http://schemas.microsoft.com/office/drawing/2014/main" id="{141E98DB-EE22-0A90-B516-5E415B831692}"/>
              </a:ext>
            </a:extLst>
          </p:cNvPr>
          <p:cNvGrpSpPr>
            <a:grpSpLocks noChangeAspect="1"/>
          </p:cNvGrpSpPr>
          <p:nvPr/>
        </p:nvGrpSpPr>
        <p:grpSpPr>
          <a:xfrm>
            <a:off x="11689080" y="6293032"/>
            <a:ext cx="921600" cy="792000"/>
            <a:chOff x="0" y="0"/>
            <a:chExt cx="812800" cy="698500"/>
          </a:xfrm>
        </p:grpSpPr>
        <p:sp>
          <p:nvSpPr>
            <p:cNvPr id="92" name="Freeform 3">
              <a:extLst>
                <a:ext uri="{FF2B5EF4-FFF2-40B4-BE49-F238E27FC236}">
                  <a16:creationId xmlns:a16="http://schemas.microsoft.com/office/drawing/2014/main" id="{E4BB2C64-30D0-989F-7EAD-CB43765FA63F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93" name="TextBox 4">
              <a:extLst>
                <a:ext uri="{FF2B5EF4-FFF2-40B4-BE49-F238E27FC236}">
                  <a16:creationId xmlns:a16="http://schemas.microsoft.com/office/drawing/2014/main" id="{833CE3EA-3E0B-3AB9-E022-FF499936AE83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pic>
        <p:nvPicPr>
          <p:cNvPr id="28" name="Picture 2">
            <a:extLst>
              <a:ext uri="{FF2B5EF4-FFF2-40B4-BE49-F238E27FC236}">
                <a16:creationId xmlns:a16="http://schemas.microsoft.com/office/drawing/2014/main" id="{ED6644AE-E072-589C-A743-1554D1FC4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6276" y="5549462"/>
            <a:ext cx="584436" cy="117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>
            <a:extLst>
              <a:ext uri="{FF2B5EF4-FFF2-40B4-BE49-F238E27FC236}">
                <a16:creationId xmlns:a16="http://schemas.microsoft.com/office/drawing/2014/main" id="{6C5E5229-94F4-EF2D-7CD5-28FCCE0D7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889" y="5814077"/>
            <a:ext cx="2092084" cy="6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6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5280C2-A789-32DD-7483-130FD351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PROJEDEN BEKLENİLENLER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69BD644-73FC-D430-1214-1A03A015A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2560" y="4089143"/>
            <a:ext cx="2392680" cy="6352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/>
              <a:t>Kolay Arıcılık</a:t>
            </a:r>
          </a:p>
        </p:txBody>
      </p:sp>
      <p:sp>
        <p:nvSpPr>
          <p:cNvPr id="9" name="Freeform 28">
            <a:extLst>
              <a:ext uri="{FF2B5EF4-FFF2-40B4-BE49-F238E27FC236}">
                <a16:creationId xmlns:a16="http://schemas.microsoft.com/office/drawing/2014/main" id="{31D92CED-2778-8AF3-2A6E-D817B01C7623}"/>
              </a:ext>
            </a:extLst>
          </p:cNvPr>
          <p:cNvSpPr/>
          <p:nvPr/>
        </p:nvSpPr>
        <p:spPr>
          <a:xfrm>
            <a:off x="1551530" y="2768857"/>
            <a:ext cx="966019" cy="1172791"/>
          </a:xfrm>
          <a:custGeom>
            <a:avLst/>
            <a:gdLst/>
            <a:ahLst/>
            <a:cxnLst/>
            <a:rect l="l" t="t" r="r" b="b"/>
            <a:pathLst>
              <a:path w="373733" h="506289">
                <a:moveTo>
                  <a:pt x="0" y="0"/>
                </a:moveTo>
                <a:lnTo>
                  <a:pt x="373733" y="0"/>
                </a:lnTo>
                <a:lnTo>
                  <a:pt x="373733" y="506288"/>
                </a:lnTo>
                <a:lnTo>
                  <a:pt x="0" y="50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30">
            <a:extLst>
              <a:ext uri="{FF2B5EF4-FFF2-40B4-BE49-F238E27FC236}">
                <a16:creationId xmlns:a16="http://schemas.microsoft.com/office/drawing/2014/main" id="{C04729EE-BA81-60F8-5565-47B8BB756690}"/>
              </a:ext>
            </a:extLst>
          </p:cNvPr>
          <p:cNvSpPr/>
          <p:nvPr/>
        </p:nvSpPr>
        <p:spPr>
          <a:xfrm>
            <a:off x="4351747" y="2768857"/>
            <a:ext cx="1099267" cy="1172791"/>
          </a:xfrm>
          <a:custGeom>
            <a:avLst/>
            <a:gdLst/>
            <a:ahLst/>
            <a:cxnLst/>
            <a:rect l="l" t="t" r="r" b="b"/>
            <a:pathLst>
              <a:path w="604072" h="634045">
                <a:moveTo>
                  <a:pt x="0" y="0"/>
                </a:moveTo>
                <a:lnTo>
                  <a:pt x="604072" y="0"/>
                </a:lnTo>
                <a:lnTo>
                  <a:pt x="604072" y="634045"/>
                </a:lnTo>
                <a:lnTo>
                  <a:pt x="0" y="6340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İçerik Yer Tutucusu 2">
            <a:extLst>
              <a:ext uri="{FF2B5EF4-FFF2-40B4-BE49-F238E27FC236}">
                <a16:creationId xmlns:a16="http://schemas.microsoft.com/office/drawing/2014/main" id="{9F77D60E-F340-D147-F39B-A9EA7DB01C35}"/>
              </a:ext>
            </a:extLst>
          </p:cNvPr>
          <p:cNvSpPr txBox="1">
            <a:spLocks/>
          </p:cNvSpPr>
          <p:nvPr/>
        </p:nvSpPr>
        <p:spPr>
          <a:xfrm>
            <a:off x="3992526" y="4089143"/>
            <a:ext cx="2392680" cy="635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r-TR" sz="2400" dirty="0"/>
              <a:t>Kovan sağlığı</a:t>
            </a:r>
          </a:p>
        </p:txBody>
      </p:sp>
      <p:sp>
        <p:nvSpPr>
          <p:cNvPr id="12" name="Freeform 24">
            <a:extLst>
              <a:ext uri="{FF2B5EF4-FFF2-40B4-BE49-F238E27FC236}">
                <a16:creationId xmlns:a16="http://schemas.microsoft.com/office/drawing/2014/main" id="{85321F9B-D6BC-F895-6D8E-02F3889C3BB0}"/>
              </a:ext>
            </a:extLst>
          </p:cNvPr>
          <p:cNvSpPr/>
          <p:nvPr/>
        </p:nvSpPr>
        <p:spPr>
          <a:xfrm>
            <a:off x="7285212" y="2855475"/>
            <a:ext cx="966019" cy="1021080"/>
          </a:xfrm>
          <a:custGeom>
            <a:avLst/>
            <a:gdLst/>
            <a:ahLst/>
            <a:cxnLst/>
            <a:rect l="l" t="t" r="r" b="b"/>
            <a:pathLst>
              <a:path w="975594" h="871479">
                <a:moveTo>
                  <a:pt x="0" y="0"/>
                </a:moveTo>
                <a:lnTo>
                  <a:pt x="975594" y="0"/>
                </a:lnTo>
                <a:lnTo>
                  <a:pt x="975594" y="871479"/>
                </a:lnTo>
                <a:lnTo>
                  <a:pt x="0" y="8714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İçerik Yer Tutucusu 2">
            <a:extLst>
              <a:ext uri="{FF2B5EF4-FFF2-40B4-BE49-F238E27FC236}">
                <a16:creationId xmlns:a16="http://schemas.microsoft.com/office/drawing/2014/main" id="{464A38F2-94C3-07A6-2CE1-089D23E8B808}"/>
              </a:ext>
            </a:extLst>
          </p:cNvPr>
          <p:cNvSpPr txBox="1">
            <a:spLocks/>
          </p:cNvSpPr>
          <p:nvPr/>
        </p:nvSpPr>
        <p:spPr>
          <a:xfrm>
            <a:off x="6882345" y="4089143"/>
            <a:ext cx="1987337" cy="63525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r-TR" dirty="0"/>
              <a:t>Arı ölümlerini azaltmak</a:t>
            </a:r>
          </a:p>
        </p:txBody>
      </p:sp>
      <p:sp>
        <p:nvSpPr>
          <p:cNvPr id="14" name="Freeform 33">
            <a:extLst>
              <a:ext uri="{FF2B5EF4-FFF2-40B4-BE49-F238E27FC236}">
                <a16:creationId xmlns:a16="http://schemas.microsoft.com/office/drawing/2014/main" id="{23B385A6-7405-25D2-95B1-35A9E81312DA}"/>
              </a:ext>
            </a:extLst>
          </p:cNvPr>
          <p:cNvSpPr/>
          <p:nvPr/>
        </p:nvSpPr>
        <p:spPr>
          <a:xfrm>
            <a:off x="10090836" y="2855475"/>
            <a:ext cx="1099267" cy="1172791"/>
          </a:xfrm>
          <a:custGeom>
            <a:avLst/>
            <a:gdLst/>
            <a:ahLst/>
            <a:cxnLst/>
            <a:rect l="l" t="t" r="r" b="b"/>
            <a:pathLst>
              <a:path w="542973" h="634045">
                <a:moveTo>
                  <a:pt x="0" y="0"/>
                </a:moveTo>
                <a:lnTo>
                  <a:pt x="542973" y="0"/>
                </a:lnTo>
                <a:lnTo>
                  <a:pt x="542973" y="634045"/>
                </a:lnTo>
                <a:lnTo>
                  <a:pt x="0" y="634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İçerik Yer Tutucusu 2">
            <a:extLst>
              <a:ext uri="{FF2B5EF4-FFF2-40B4-BE49-F238E27FC236}">
                <a16:creationId xmlns:a16="http://schemas.microsoft.com/office/drawing/2014/main" id="{91AA58D7-E74E-C8E8-14B3-A3CE2071CA53}"/>
              </a:ext>
            </a:extLst>
          </p:cNvPr>
          <p:cNvSpPr txBox="1">
            <a:spLocks/>
          </p:cNvSpPr>
          <p:nvPr/>
        </p:nvSpPr>
        <p:spPr>
          <a:xfrm>
            <a:off x="9646800" y="4089143"/>
            <a:ext cx="1987337" cy="63525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r-TR" dirty="0"/>
              <a:t>Üretim verimini arttırmak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54A4E09E-C493-558F-DA0A-26D3DB793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6276" y="5549462"/>
            <a:ext cx="584436" cy="117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DA45B839-1A12-768F-45A6-08D9828F1F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2889" y="5814077"/>
            <a:ext cx="2092084" cy="6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27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7697784-3FDC-8ECF-6FBF-B28D0BB1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Hangi Amaçlara Hizmet Ediyor?</a:t>
            </a:r>
            <a:endParaRPr lang="tr-TR" dirty="0"/>
          </a:p>
        </p:txBody>
      </p:sp>
      <p:pic>
        <p:nvPicPr>
          <p:cNvPr id="1026" name="Picture 2" descr="Sürdürülebilir Kalkınma Amacı 2 - Vikipedi">
            <a:extLst>
              <a:ext uri="{FF2B5EF4-FFF2-40B4-BE49-F238E27FC236}">
                <a16:creationId xmlns:a16="http://schemas.microsoft.com/office/drawing/2014/main" id="{FDFB652D-8A9E-6154-BC57-89427A18C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735" y="2545080"/>
            <a:ext cx="2313305" cy="231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ç 12: Sorumlu Üretim ve Tüketim • SDG Map Turkey">
            <a:extLst>
              <a:ext uri="{FF2B5EF4-FFF2-40B4-BE49-F238E27FC236}">
                <a16:creationId xmlns:a16="http://schemas.microsoft.com/office/drawing/2014/main" id="{03597514-2316-7E15-99F2-509412068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347" y="2542936"/>
            <a:ext cx="2313305" cy="2313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555E2B7A-0380-6C0B-5450-8040CA8A7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959" y="2542936"/>
            <a:ext cx="2313305" cy="2313305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69452D5-7AC5-4821-5D84-92C8896D3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6276" y="5549462"/>
            <a:ext cx="584436" cy="117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3DA0F9-E2FE-3FBA-89A6-B4AE287ECA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889" y="5814077"/>
            <a:ext cx="2092084" cy="6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84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86FCCE5-37F9-3EDA-02A9-4186AA6C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260671"/>
            <a:ext cx="11338560" cy="1156649"/>
          </a:xfrm>
        </p:spPr>
        <p:txBody>
          <a:bodyPr>
            <a:normAutofit/>
          </a:bodyPr>
          <a:lstStyle/>
          <a:p>
            <a:pPr algn="ctr"/>
            <a:r>
              <a:rPr lang="tr-TR" sz="5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VERİ SETİ</a:t>
            </a:r>
            <a:endParaRPr lang="en-US" sz="50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84B3B4A8-3273-53EB-31FF-4ADED13C440B}"/>
              </a:ext>
            </a:extLst>
          </p:cNvPr>
          <p:cNvSpPr txBox="1"/>
          <p:nvPr/>
        </p:nvSpPr>
        <p:spPr>
          <a:xfrm>
            <a:off x="518160" y="1948933"/>
            <a:ext cx="4693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9933"/>
                </a:solidFill>
              </a:rPr>
              <a:t>Kaggle </a:t>
            </a:r>
            <a:endParaRPr lang="tr-TR" sz="2400" b="1" dirty="0">
              <a:solidFill>
                <a:srgbClr val="FF9933"/>
              </a:solidFill>
            </a:endParaRPr>
          </a:p>
          <a:p>
            <a:r>
              <a:rPr lang="tr-TR" sz="2400" b="1" dirty="0">
                <a:solidFill>
                  <a:srgbClr val="FF9933"/>
                </a:solidFill>
              </a:rPr>
              <a:t>-</a:t>
            </a:r>
            <a:r>
              <a:rPr lang="en-US" sz="2400" b="1" dirty="0">
                <a:solidFill>
                  <a:srgbClr val="FF9933"/>
                </a:solidFill>
              </a:rPr>
              <a:t> </a:t>
            </a:r>
            <a:r>
              <a:rPr lang="en-US" sz="2400" b="1" i="1" dirty="0">
                <a:solidFill>
                  <a:srgbClr val="FF9933"/>
                </a:solidFill>
              </a:rPr>
              <a:t>Honey Bee Annotated Images Dataset</a:t>
            </a:r>
            <a:endParaRPr lang="tr-TR" sz="2400" b="1" dirty="0">
              <a:solidFill>
                <a:srgbClr val="FF9933"/>
              </a:solidFill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3D788A61-E34B-71FA-09EA-6FEF1C4552F3}"/>
              </a:ext>
            </a:extLst>
          </p:cNvPr>
          <p:cNvSpPr txBox="1"/>
          <p:nvPr/>
        </p:nvSpPr>
        <p:spPr>
          <a:xfrm>
            <a:off x="6949440" y="1933693"/>
            <a:ext cx="4465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tr-TR" sz="2400" b="1" i="0" dirty="0" err="1">
                <a:solidFill>
                  <a:srgbClr val="FF9933"/>
                </a:solidFill>
                <a:effectLst/>
              </a:rPr>
              <a:t>Kaggle</a:t>
            </a:r>
            <a:r>
              <a:rPr lang="tr-TR" sz="2400" b="1" i="0" dirty="0">
                <a:solidFill>
                  <a:srgbClr val="FF9933"/>
                </a:solidFill>
                <a:effectLst/>
              </a:rPr>
              <a:t> </a:t>
            </a:r>
          </a:p>
          <a:p>
            <a:pPr algn="l" fontAlgn="base"/>
            <a:r>
              <a:rPr lang="tr-TR" sz="2400" b="1" i="0" dirty="0">
                <a:solidFill>
                  <a:srgbClr val="FF9933"/>
                </a:solidFill>
                <a:effectLst/>
              </a:rPr>
              <a:t>- </a:t>
            </a:r>
            <a:r>
              <a:rPr lang="en-US" sz="2400" b="1" i="1" dirty="0">
                <a:solidFill>
                  <a:srgbClr val="FF9933"/>
                </a:solidFill>
                <a:effectLst/>
              </a:rPr>
              <a:t>Smart Bee Colony Monitor: Clips of Beehive Sounds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5F003CD2-DADC-ACA9-F268-6D2C871DD54F}"/>
              </a:ext>
            </a:extLst>
          </p:cNvPr>
          <p:cNvSpPr txBox="1"/>
          <p:nvPr/>
        </p:nvSpPr>
        <p:spPr>
          <a:xfrm>
            <a:off x="640080" y="3483457"/>
            <a:ext cx="68351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Etiketler (sınıflar):</a:t>
            </a:r>
          </a:p>
          <a:p>
            <a:pPr>
              <a:buFont typeface="+mj-lt"/>
              <a:buAutoNum type="arabicPeriod"/>
            </a:pPr>
            <a:r>
              <a:rPr lang="tr-TR" sz="2400" dirty="0" err="1"/>
              <a:t>Hive</a:t>
            </a:r>
            <a:r>
              <a:rPr lang="tr-TR" sz="2400" dirty="0"/>
              <a:t> </a:t>
            </a:r>
            <a:r>
              <a:rPr lang="tr-TR" sz="2400" dirty="0" err="1"/>
              <a:t>being</a:t>
            </a:r>
            <a:r>
              <a:rPr lang="tr-TR" sz="2400" dirty="0"/>
              <a:t> </a:t>
            </a:r>
            <a:r>
              <a:rPr lang="tr-TR" sz="2400" dirty="0" err="1"/>
              <a:t>robbed</a:t>
            </a:r>
            <a:endParaRPr lang="tr-TR" sz="2400" dirty="0"/>
          </a:p>
          <a:p>
            <a:pPr>
              <a:buFont typeface="+mj-lt"/>
              <a:buAutoNum type="arabicPeriod"/>
            </a:pPr>
            <a:r>
              <a:rPr lang="tr-TR" sz="2400" dirty="0" err="1"/>
              <a:t>Healthy</a:t>
            </a:r>
            <a:endParaRPr lang="tr-TR" sz="2400" dirty="0"/>
          </a:p>
          <a:p>
            <a:pPr>
              <a:buFont typeface="+mj-lt"/>
              <a:buAutoNum type="arabicPeriod"/>
            </a:pPr>
            <a:r>
              <a:rPr lang="tr-TR" sz="2400" dirty="0" err="1"/>
              <a:t>Few</a:t>
            </a:r>
            <a:r>
              <a:rPr lang="tr-TR" sz="2400" dirty="0"/>
              <a:t> </a:t>
            </a:r>
            <a:r>
              <a:rPr lang="tr-TR" sz="2400" dirty="0" err="1"/>
              <a:t>Varroa</a:t>
            </a:r>
            <a:r>
              <a:rPr lang="tr-TR" sz="2400" dirty="0"/>
              <a:t> / </a:t>
            </a:r>
            <a:r>
              <a:rPr lang="tr-TR" sz="2400" dirty="0" err="1"/>
              <a:t>Hive</a:t>
            </a:r>
            <a:r>
              <a:rPr lang="tr-TR" sz="2400" dirty="0"/>
              <a:t> </a:t>
            </a:r>
            <a:r>
              <a:rPr lang="tr-TR" sz="2400" dirty="0" err="1"/>
              <a:t>beetles</a:t>
            </a:r>
            <a:endParaRPr lang="tr-TR" sz="2400" dirty="0"/>
          </a:p>
          <a:p>
            <a:pPr>
              <a:buFont typeface="+mj-lt"/>
              <a:buAutoNum type="arabicPeriod"/>
            </a:pPr>
            <a:r>
              <a:rPr lang="tr-TR" sz="2400" dirty="0"/>
              <a:t>Ant </a:t>
            </a:r>
            <a:r>
              <a:rPr lang="tr-TR" sz="2400" dirty="0" err="1"/>
              <a:t>problems</a:t>
            </a:r>
            <a:endParaRPr lang="tr-TR" sz="2400" dirty="0"/>
          </a:p>
          <a:p>
            <a:pPr>
              <a:buFont typeface="+mj-lt"/>
              <a:buAutoNum type="arabicPeriod"/>
            </a:pPr>
            <a:r>
              <a:rPr lang="tr-TR" sz="2400" dirty="0" err="1"/>
              <a:t>Missing</a:t>
            </a:r>
            <a:r>
              <a:rPr lang="tr-TR" sz="2400" dirty="0"/>
              <a:t> </a:t>
            </a:r>
            <a:r>
              <a:rPr lang="tr-TR" sz="2400" dirty="0" err="1"/>
              <a:t>queen</a:t>
            </a:r>
            <a:endParaRPr lang="tr-TR" sz="2400" dirty="0"/>
          </a:p>
          <a:p>
            <a:pPr>
              <a:buFont typeface="+mj-lt"/>
              <a:buAutoNum type="arabicPeriod"/>
            </a:pPr>
            <a:r>
              <a:rPr lang="tr-TR" sz="2400" dirty="0" err="1"/>
              <a:t>Varroa</a:t>
            </a:r>
            <a:r>
              <a:rPr lang="tr-TR" sz="2400" dirty="0"/>
              <a:t> + Small </a:t>
            </a:r>
            <a:r>
              <a:rPr lang="tr-TR" sz="2400" dirty="0" err="1"/>
              <a:t>hive</a:t>
            </a:r>
            <a:r>
              <a:rPr lang="tr-TR" sz="2400" dirty="0"/>
              <a:t> </a:t>
            </a:r>
            <a:r>
              <a:rPr lang="tr-TR" sz="2400" dirty="0" err="1"/>
              <a:t>beetles</a:t>
            </a:r>
            <a:endParaRPr lang="tr-TR" sz="2400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A94A560F-0612-44F8-D981-A9F012CA05D3}"/>
              </a:ext>
            </a:extLst>
          </p:cNvPr>
          <p:cNvSpPr txBox="1"/>
          <p:nvPr/>
        </p:nvSpPr>
        <p:spPr>
          <a:xfrm>
            <a:off x="6949440" y="3389782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Etiketler</a:t>
            </a:r>
            <a:r>
              <a:rPr lang="en-US" sz="2400" dirty="0"/>
              <a:t> (</a:t>
            </a:r>
            <a:r>
              <a:rPr lang="en-US" sz="2400" dirty="0" err="1"/>
              <a:t>sınıflar</a:t>
            </a:r>
            <a:r>
              <a:rPr lang="en-US" sz="2400" dirty="0"/>
              <a:t>):</a:t>
            </a:r>
          </a:p>
          <a:p>
            <a:pPr marL="457200" indent="-457200">
              <a:buAutoNum type="arabicPeriod"/>
            </a:pPr>
            <a:r>
              <a:rPr lang="en-US" sz="2400" dirty="0"/>
              <a:t>Queen present</a:t>
            </a:r>
            <a:endParaRPr lang="tr-TR" sz="2400" dirty="0"/>
          </a:p>
          <a:p>
            <a:pPr marL="457200" indent="-457200">
              <a:buAutoNum type="arabicPeriod"/>
            </a:pPr>
            <a:r>
              <a:rPr lang="en-US" sz="2400" dirty="0"/>
              <a:t>not present </a:t>
            </a:r>
            <a:endParaRPr lang="tr-TR" sz="2400" dirty="0"/>
          </a:p>
          <a:p>
            <a:pPr marL="457200" indent="-457200">
              <a:buAutoNum type="arabicPeriod"/>
            </a:pPr>
            <a:r>
              <a:rPr lang="en-US" sz="2400" dirty="0"/>
              <a:t>rejected </a:t>
            </a:r>
            <a:endParaRPr lang="tr-TR" sz="2400" dirty="0"/>
          </a:p>
          <a:p>
            <a:pPr marL="457200" indent="-457200">
              <a:buAutoNum type="arabicPeriod"/>
            </a:pPr>
            <a:r>
              <a:rPr lang="en-US" sz="2400" dirty="0"/>
              <a:t>newly accepted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42B7690-5663-5E35-81E0-9774741CD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6276" y="5549462"/>
            <a:ext cx="584436" cy="117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4E13B69F-5471-E241-996B-7DA4DEB4D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889" y="5814077"/>
            <a:ext cx="2092084" cy="6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88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CE73CD-56A1-F7D3-D01A-9BF6E67A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344"/>
            <a:ext cx="10515600" cy="903610"/>
          </a:xfrm>
        </p:spPr>
        <p:txBody>
          <a:bodyPr/>
          <a:lstStyle/>
          <a:p>
            <a:pPr algn="ctr"/>
            <a:r>
              <a:rPr lang="tr-TR" sz="4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METODOLOJİ</a:t>
            </a:r>
            <a:endParaRPr lang="tr-TR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ayt Önizlemesi 4">
                <a:extLst>
                  <a:ext uri="{FF2B5EF4-FFF2-40B4-BE49-F238E27FC236}">
                    <a16:creationId xmlns:a16="http://schemas.microsoft.com/office/drawing/2014/main" id="{8EF92B80-E968-D437-CA7C-66B026BA215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37895056"/>
                  </p:ext>
                </p:extLst>
              </p:nvPr>
            </p:nvGraphicFramePr>
            <p:xfrm>
              <a:off x="2372810" y="1349898"/>
              <a:ext cx="3723190" cy="2094294"/>
            </p:xfrm>
            <a:graphic>
              <a:graphicData uri="http://schemas.microsoft.com/office/powerpoint/2016/slidezoom">
                <pslz:sldZm>
                  <pslz:sldZmObj sldId="271" cId="3546009632">
                    <pslz:zmPr id="{40287CC1-3ECC-47C1-9376-A2DB4CBB9243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723190" cy="20942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ayt Önizlemesi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EF92B80-E968-D437-CA7C-66B026BA215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2810" y="1349898"/>
                <a:ext cx="3723190" cy="209429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ayt Önizlemesi 6">
                <a:extLst>
                  <a:ext uri="{FF2B5EF4-FFF2-40B4-BE49-F238E27FC236}">
                    <a16:creationId xmlns:a16="http://schemas.microsoft.com/office/drawing/2014/main" id="{CF885B29-B2A4-65D7-8316-17979D75E9E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47883399"/>
                  </p:ext>
                </p:extLst>
              </p:nvPr>
            </p:nvGraphicFramePr>
            <p:xfrm>
              <a:off x="6095999" y="1349898"/>
              <a:ext cx="3696181" cy="2079102"/>
            </p:xfrm>
            <a:graphic>
              <a:graphicData uri="http://schemas.microsoft.com/office/powerpoint/2016/slidezoom">
                <pslz:sldZm>
                  <pslz:sldZmObj sldId="272" cId="583720958">
                    <pslz:zmPr id="{E6AB959F-A38A-4CB6-AFDD-C986ACFCB872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696181" cy="2079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ayt Önizlemesi 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CF885B29-B2A4-65D7-8316-17979D75E9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95999" y="1349898"/>
                <a:ext cx="3696181" cy="20791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ayt Önizlemesi 8">
                <a:extLst>
                  <a:ext uri="{FF2B5EF4-FFF2-40B4-BE49-F238E27FC236}">
                    <a16:creationId xmlns:a16="http://schemas.microsoft.com/office/drawing/2014/main" id="{0DF5CE55-A86F-7345-9CC4-EA355BA2B5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84144124"/>
                  </p:ext>
                </p:extLst>
              </p:nvPr>
            </p:nvGraphicFramePr>
            <p:xfrm>
              <a:off x="2372810" y="3429965"/>
              <a:ext cx="3723190" cy="2094294"/>
            </p:xfrm>
            <a:graphic>
              <a:graphicData uri="http://schemas.microsoft.com/office/powerpoint/2016/slidezoom">
                <pslz:sldZm>
                  <pslz:sldZmObj sldId="275" cId="2812705848">
                    <pslz:zmPr id="{BC7463E9-3A17-4FE6-BD6F-5964F6051FA3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723190" cy="20942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ayt Önizlemesi 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0DF5CE55-A86F-7345-9CC4-EA355BA2B55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72810" y="3429965"/>
                <a:ext cx="3723190" cy="209429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ayt Önizlemesi 10">
                <a:extLst>
                  <a:ext uri="{FF2B5EF4-FFF2-40B4-BE49-F238E27FC236}">
                    <a16:creationId xmlns:a16="http://schemas.microsoft.com/office/drawing/2014/main" id="{2122689B-0D51-8941-FD48-05A1F5A219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95653577"/>
                  </p:ext>
                </p:extLst>
              </p:nvPr>
            </p:nvGraphicFramePr>
            <p:xfrm>
              <a:off x="6096000" y="3429964"/>
              <a:ext cx="3694466" cy="2078137"/>
            </p:xfrm>
            <a:graphic>
              <a:graphicData uri="http://schemas.microsoft.com/office/powerpoint/2016/slidezoom">
                <pslz:sldZm>
                  <pslz:sldZmObj sldId="274" cId="1929171280">
                    <pslz:zmPr id="{B1BBE15E-AD43-4CCF-B2AD-86BF8361BC04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694466" cy="207813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ayt Önizlemesi 10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2122689B-0D51-8941-FD48-05A1F5A21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96000" y="3429964"/>
                <a:ext cx="3694466" cy="207813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FFE4F5BC-E981-5E32-9525-E59E6C7B5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6276" y="5549462"/>
            <a:ext cx="584436" cy="117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9B3B9B29-50DD-9A38-2677-B60EB993D31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82889" y="5814077"/>
            <a:ext cx="2092084" cy="6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56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9933"/>
            </a:gs>
            <a:gs pos="53000">
              <a:schemeClr val="bg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özyaşı Damlası 7">
            <a:extLst>
              <a:ext uri="{FF2B5EF4-FFF2-40B4-BE49-F238E27FC236}">
                <a16:creationId xmlns:a16="http://schemas.microsoft.com/office/drawing/2014/main" id="{314ABA87-F015-A14E-FAE7-67F7775DBD79}"/>
              </a:ext>
            </a:extLst>
          </p:cNvPr>
          <p:cNvSpPr/>
          <p:nvPr/>
        </p:nvSpPr>
        <p:spPr>
          <a:xfrm rot="5400000">
            <a:off x="7872000" y="2557338"/>
            <a:ext cx="4320000" cy="4320000"/>
          </a:xfrm>
          <a:prstGeom prst="teardrop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6A0E6BF1-A68E-C9AC-40D5-D44E4CBC5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170" y="2529520"/>
            <a:ext cx="5325109" cy="8490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7000" b="1" dirty="0">
                <a:solidFill>
                  <a:srgbClr val="FF9933"/>
                </a:solidFill>
              </a:rPr>
              <a:t>Veri Toplama</a:t>
            </a:r>
          </a:p>
        </p:txBody>
      </p:sp>
      <p:sp>
        <p:nvSpPr>
          <p:cNvPr id="11" name="İçerik Yer Tutucusu 2">
            <a:extLst>
              <a:ext uri="{FF2B5EF4-FFF2-40B4-BE49-F238E27FC236}">
                <a16:creationId xmlns:a16="http://schemas.microsoft.com/office/drawing/2014/main" id="{DE8A7D5C-D7EE-8D1A-8F9C-62882E7FCB6F}"/>
              </a:ext>
            </a:extLst>
          </p:cNvPr>
          <p:cNvSpPr txBox="1">
            <a:spLocks/>
          </p:cNvSpPr>
          <p:nvPr/>
        </p:nvSpPr>
        <p:spPr>
          <a:xfrm>
            <a:off x="9236351" y="3482622"/>
            <a:ext cx="1591298" cy="2340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r-TR" sz="20000" b="1" dirty="0">
                <a:solidFill>
                  <a:schemeClr val="bg1"/>
                </a:solidFill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tr-TR" sz="20000" b="1" dirty="0">
              <a:solidFill>
                <a:schemeClr val="bg1"/>
              </a:solidFill>
            </a:endParaRPr>
          </a:p>
        </p:txBody>
      </p:sp>
      <p:sp>
        <p:nvSpPr>
          <p:cNvPr id="12" name="Freeform 24">
            <a:extLst>
              <a:ext uri="{FF2B5EF4-FFF2-40B4-BE49-F238E27FC236}">
                <a16:creationId xmlns:a16="http://schemas.microsoft.com/office/drawing/2014/main" id="{2F4A5F2C-CDC0-7337-CB31-5E21F3D59D18}"/>
              </a:ext>
            </a:extLst>
          </p:cNvPr>
          <p:cNvSpPr/>
          <p:nvPr/>
        </p:nvSpPr>
        <p:spPr>
          <a:xfrm>
            <a:off x="5608416" y="2420179"/>
            <a:ext cx="464434" cy="464434"/>
          </a:xfrm>
          <a:custGeom>
            <a:avLst/>
            <a:gdLst/>
            <a:ahLst/>
            <a:cxnLst/>
            <a:rect l="l" t="t" r="r" b="b"/>
            <a:pathLst>
              <a:path w="975594" h="871479">
                <a:moveTo>
                  <a:pt x="0" y="0"/>
                </a:moveTo>
                <a:lnTo>
                  <a:pt x="975594" y="0"/>
                </a:lnTo>
                <a:lnTo>
                  <a:pt x="975594" y="871479"/>
                </a:lnTo>
                <a:lnTo>
                  <a:pt x="0" y="871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46009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9933"/>
            </a:gs>
            <a:gs pos="53000">
              <a:schemeClr val="bg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özyaşı Damlası 7">
            <a:extLst>
              <a:ext uri="{FF2B5EF4-FFF2-40B4-BE49-F238E27FC236}">
                <a16:creationId xmlns:a16="http://schemas.microsoft.com/office/drawing/2014/main" id="{314ABA87-F015-A14E-FAE7-67F7775DBD79}"/>
              </a:ext>
            </a:extLst>
          </p:cNvPr>
          <p:cNvSpPr/>
          <p:nvPr/>
        </p:nvSpPr>
        <p:spPr>
          <a:xfrm rot="10800000">
            <a:off x="0" y="2543644"/>
            <a:ext cx="4320000" cy="4320000"/>
          </a:xfrm>
          <a:prstGeom prst="teardrop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6A0E6BF1-A68E-C9AC-40D5-D44E4CBC5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791673"/>
            <a:ext cx="5964820" cy="10325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7000" b="1" dirty="0">
                <a:solidFill>
                  <a:srgbClr val="FF9933"/>
                </a:solidFill>
              </a:rPr>
              <a:t>Veri Ön İşleme</a:t>
            </a:r>
          </a:p>
        </p:txBody>
      </p:sp>
      <p:sp>
        <p:nvSpPr>
          <p:cNvPr id="11" name="İçerik Yer Tutucusu 2">
            <a:extLst>
              <a:ext uri="{FF2B5EF4-FFF2-40B4-BE49-F238E27FC236}">
                <a16:creationId xmlns:a16="http://schemas.microsoft.com/office/drawing/2014/main" id="{DE8A7D5C-D7EE-8D1A-8F9C-62882E7FCB6F}"/>
              </a:ext>
            </a:extLst>
          </p:cNvPr>
          <p:cNvSpPr txBox="1">
            <a:spLocks/>
          </p:cNvSpPr>
          <p:nvPr/>
        </p:nvSpPr>
        <p:spPr>
          <a:xfrm>
            <a:off x="1364351" y="3468928"/>
            <a:ext cx="1591298" cy="2340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r-TR" sz="20000" b="1" dirty="0">
                <a:solidFill>
                  <a:schemeClr val="bg1"/>
                </a:solidFill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tr-TR" sz="20000" b="1" dirty="0">
              <a:solidFill>
                <a:schemeClr val="bg1"/>
              </a:solidFill>
            </a:endParaRPr>
          </a:p>
        </p:txBody>
      </p:sp>
      <p:sp>
        <p:nvSpPr>
          <p:cNvPr id="12" name="Freeform 24">
            <a:extLst>
              <a:ext uri="{FF2B5EF4-FFF2-40B4-BE49-F238E27FC236}">
                <a16:creationId xmlns:a16="http://schemas.microsoft.com/office/drawing/2014/main" id="{B7A9EF6D-F473-EC88-05EA-89C37E1FC359}"/>
              </a:ext>
            </a:extLst>
          </p:cNvPr>
          <p:cNvSpPr/>
          <p:nvPr/>
        </p:nvSpPr>
        <p:spPr>
          <a:xfrm flipH="1">
            <a:off x="9165704" y="1447876"/>
            <a:ext cx="441283" cy="427224"/>
          </a:xfrm>
          <a:custGeom>
            <a:avLst/>
            <a:gdLst/>
            <a:ahLst/>
            <a:cxnLst/>
            <a:rect l="l" t="t" r="r" b="b"/>
            <a:pathLst>
              <a:path w="975594" h="871479">
                <a:moveTo>
                  <a:pt x="0" y="0"/>
                </a:moveTo>
                <a:lnTo>
                  <a:pt x="975594" y="0"/>
                </a:lnTo>
                <a:lnTo>
                  <a:pt x="975594" y="871479"/>
                </a:lnTo>
                <a:lnTo>
                  <a:pt x="0" y="871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2105AA2-7249-9750-92EF-C0CDAEAE6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0510" y="3778030"/>
            <a:ext cx="646803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Görsellerin yeniden boyutlandırılması (300x300)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Seslerin MFCC özelliklerine dönüştürülmesi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Veri dengelenmesi ve temizlenmesi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Eğitim / doğrulama / test ayrımı</a:t>
            </a: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AD966C50-6CCF-2423-9F24-3D8723AFAEB1}"/>
              </a:ext>
            </a:extLst>
          </p:cNvPr>
          <p:cNvGrpSpPr/>
          <p:nvPr/>
        </p:nvGrpSpPr>
        <p:grpSpPr>
          <a:xfrm>
            <a:off x="6639736" y="3891823"/>
            <a:ext cx="230774" cy="182297"/>
            <a:chOff x="0" y="0"/>
            <a:chExt cx="812800" cy="698500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FEC75865-00EB-045C-A8C8-DE0106571B18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105"/>
            </a:solidFill>
          </p:spPr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AACC5369-2AAA-3BBF-C274-8EBEB069CF98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279779" tIns="279779" rIns="279779" bIns="27977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5" name="Group 2">
            <a:extLst>
              <a:ext uri="{FF2B5EF4-FFF2-40B4-BE49-F238E27FC236}">
                <a16:creationId xmlns:a16="http://schemas.microsoft.com/office/drawing/2014/main" id="{8600D381-369F-395B-A37C-0B01FE2F59BF}"/>
              </a:ext>
            </a:extLst>
          </p:cNvPr>
          <p:cNvGrpSpPr/>
          <p:nvPr/>
        </p:nvGrpSpPr>
        <p:grpSpPr>
          <a:xfrm>
            <a:off x="6639736" y="4442125"/>
            <a:ext cx="230774" cy="182297"/>
            <a:chOff x="0" y="0"/>
            <a:chExt cx="812800" cy="698500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353552D6-0465-3C30-0196-E87FA323ACEC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105"/>
            </a:solidFill>
          </p:spPr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F292483D-69F9-ECF8-B37A-F681430515D3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279779" tIns="279779" rIns="279779" bIns="27977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8" name="Group 2">
            <a:extLst>
              <a:ext uri="{FF2B5EF4-FFF2-40B4-BE49-F238E27FC236}">
                <a16:creationId xmlns:a16="http://schemas.microsoft.com/office/drawing/2014/main" id="{DF89DF78-BA57-1DEB-7346-D98FD759DD3E}"/>
              </a:ext>
            </a:extLst>
          </p:cNvPr>
          <p:cNvGrpSpPr/>
          <p:nvPr/>
        </p:nvGrpSpPr>
        <p:grpSpPr>
          <a:xfrm>
            <a:off x="6672189" y="4980185"/>
            <a:ext cx="230774" cy="182297"/>
            <a:chOff x="0" y="0"/>
            <a:chExt cx="812800" cy="698500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F8597720-3ACD-8EE7-FDC3-9FF2A8A02DBD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105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238128C2-3B06-7BB3-0E93-189A1043C241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279779" tIns="279779" rIns="279779" bIns="27977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1" name="Group 2">
            <a:extLst>
              <a:ext uri="{FF2B5EF4-FFF2-40B4-BE49-F238E27FC236}">
                <a16:creationId xmlns:a16="http://schemas.microsoft.com/office/drawing/2014/main" id="{74F157C8-25C0-08BA-B1B7-ECFF53BDA536}"/>
              </a:ext>
            </a:extLst>
          </p:cNvPr>
          <p:cNvGrpSpPr/>
          <p:nvPr/>
        </p:nvGrpSpPr>
        <p:grpSpPr>
          <a:xfrm>
            <a:off x="6670198" y="5518245"/>
            <a:ext cx="230774" cy="182297"/>
            <a:chOff x="0" y="0"/>
            <a:chExt cx="812800" cy="698500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A07B6842-1E50-D39D-33FD-9509D582FF5A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105"/>
            </a:solidFill>
          </p:spPr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0997A5E2-9D3B-333D-020B-A394129C11BB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279779" tIns="279779" rIns="279779" bIns="27977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83720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9933"/>
            </a:gs>
            <a:gs pos="57000">
              <a:schemeClr val="bg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özyaşı Damlası 7">
            <a:extLst>
              <a:ext uri="{FF2B5EF4-FFF2-40B4-BE49-F238E27FC236}">
                <a16:creationId xmlns:a16="http://schemas.microsoft.com/office/drawing/2014/main" id="{314ABA87-F015-A14E-FAE7-67F7775DBD79}"/>
              </a:ext>
            </a:extLst>
          </p:cNvPr>
          <p:cNvSpPr/>
          <p:nvPr/>
        </p:nvSpPr>
        <p:spPr>
          <a:xfrm rot="16200000">
            <a:off x="0" y="0"/>
            <a:ext cx="4320000" cy="4320000"/>
          </a:xfrm>
          <a:prstGeom prst="teardrop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6A0E6BF1-A68E-C9AC-40D5-D44E4CBC5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834" y="2367468"/>
            <a:ext cx="6585996" cy="13797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7000" b="1" dirty="0">
                <a:solidFill>
                  <a:srgbClr val="FF9933"/>
                </a:solidFill>
              </a:rPr>
              <a:t>Model Geliştirme</a:t>
            </a:r>
          </a:p>
        </p:txBody>
      </p:sp>
      <p:sp>
        <p:nvSpPr>
          <p:cNvPr id="11" name="İçerik Yer Tutucusu 2">
            <a:extLst>
              <a:ext uri="{FF2B5EF4-FFF2-40B4-BE49-F238E27FC236}">
                <a16:creationId xmlns:a16="http://schemas.microsoft.com/office/drawing/2014/main" id="{DE8A7D5C-D7EE-8D1A-8F9C-62882E7FCB6F}"/>
              </a:ext>
            </a:extLst>
          </p:cNvPr>
          <p:cNvSpPr txBox="1">
            <a:spLocks/>
          </p:cNvSpPr>
          <p:nvPr/>
        </p:nvSpPr>
        <p:spPr>
          <a:xfrm>
            <a:off x="1364351" y="925284"/>
            <a:ext cx="1591298" cy="2340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r-TR" sz="20000" b="1" dirty="0">
                <a:solidFill>
                  <a:schemeClr val="bg1"/>
                </a:solidFill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tr-TR" sz="20000" b="1" dirty="0">
              <a:solidFill>
                <a:schemeClr val="bg1"/>
              </a:solidFill>
            </a:endParaRPr>
          </a:p>
        </p:txBody>
      </p:sp>
      <p:sp>
        <p:nvSpPr>
          <p:cNvPr id="12" name="Freeform 24">
            <a:extLst>
              <a:ext uri="{FF2B5EF4-FFF2-40B4-BE49-F238E27FC236}">
                <a16:creationId xmlns:a16="http://schemas.microsoft.com/office/drawing/2014/main" id="{B7A9EF6D-F473-EC88-05EA-89C37E1FC359}"/>
              </a:ext>
            </a:extLst>
          </p:cNvPr>
          <p:cNvSpPr/>
          <p:nvPr/>
        </p:nvSpPr>
        <p:spPr>
          <a:xfrm flipH="1">
            <a:off x="8694032" y="2153856"/>
            <a:ext cx="441283" cy="427224"/>
          </a:xfrm>
          <a:custGeom>
            <a:avLst/>
            <a:gdLst/>
            <a:ahLst/>
            <a:cxnLst/>
            <a:rect l="l" t="t" r="r" b="b"/>
            <a:pathLst>
              <a:path w="975594" h="871479">
                <a:moveTo>
                  <a:pt x="0" y="0"/>
                </a:moveTo>
                <a:lnTo>
                  <a:pt x="975594" y="0"/>
                </a:lnTo>
                <a:lnTo>
                  <a:pt x="975594" y="871479"/>
                </a:lnTo>
                <a:lnTo>
                  <a:pt x="0" y="871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id="{CA0DA30B-5C82-213F-BF85-EC5F0B2CCC09}"/>
              </a:ext>
            </a:extLst>
          </p:cNvPr>
          <p:cNvGrpSpPr/>
          <p:nvPr/>
        </p:nvGrpSpPr>
        <p:grpSpPr>
          <a:xfrm>
            <a:off x="4014742" y="5071616"/>
            <a:ext cx="6698809" cy="923330"/>
            <a:chOff x="6220060" y="5058169"/>
            <a:chExt cx="6698809" cy="923330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B39D93DE-3BB5-F015-99EC-489B54968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0834" y="5058169"/>
              <a:ext cx="6468035" cy="923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tr-TR" altLang="tr-TR" sz="1800" b="0" i="0" u="none" strike="noStrike" cap="none" normalizeH="0" baseline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latin typeface="Arial" panose="020B0604020202020204" pitchFamily="34" charset="0"/>
                </a:rPr>
                <a:t>Görsel model → EfficientNetB3 (transfer </a:t>
              </a:r>
              <a:r>
                <a:rPr kumimoji="0" lang="tr-TR" altLang="tr-TR" sz="1800" b="0" i="0" u="none" strike="noStrike" cap="none" normalizeH="0" baseline="0" dirty="0" err="1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latin typeface="Arial" panose="020B0604020202020204" pitchFamily="34" charset="0"/>
                </a:rPr>
                <a:t>learning</a:t>
              </a:r>
              <a:r>
                <a:rPr kumimoji="0" lang="tr-TR" altLang="tr-TR" sz="1800" b="0" i="0" u="none" strike="noStrike" cap="none" normalizeH="0" baseline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latin typeface="Arial" panose="020B0604020202020204" pitchFamily="34" charset="0"/>
                </a:rPr>
                <a:t>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tr-TR" altLang="tr-TR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tr-TR" altLang="tr-TR" sz="1800" b="0" i="0" u="none" strike="noStrike" cap="none" normalizeH="0" baseline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latin typeface="Arial" panose="020B0604020202020204" pitchFamily="34" charset="0"/>
                </a:rPr>
                <a:t>Ses modeli → MFCC tabanlı Dense </a:t>
              </a:r>
              <a:r>
                <a:rPr kumimoji="0" lang="tr-TR" altLang="tr-TR" sz="1800" b="0" i="0" u="none" strike="noStrike" cap="none" normalizeH="0" baseline="0" dirty="0" err="1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latin typeface="Arial" panose="020B0604020202020204" pitchFamily="34" charset="0"/>
                </a:rPr>
                <a:t>Neural</a:t>
              </a:r>
              <a:r>
                <a:rPr kumimoji="0" lang="tr-TR" altLang="tr-TR" sz="1800" b="0" i="0" u="none" strike="noStrike" cap="none" normalizeH="0" baseline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latin typeface="Arial" panose="020B0604020202020204" pitchFamily="34" charset="0"/>
                </a:rPr>
                <a:t> Network</a:t>
              </a:r>
            </a:p>
          </p:txBody>
        </p:sp>
        <p:grpSp>
          <p:nvGrpSpPr>
            <p:cNvPr id="10" name="Group 2">
              <a:extLst>
                <a:ext uri="{FF2B5EF4-FFF2-40B4-BE49-F238E27FC236}">
                  <a16:creationId xmlns:a16="http://schemas.microsoft.com/office/drawing/2014/main" id="{4A5B0232-EFD0-E557-4009-892C110A9394}"/>
                </a:ext>
              </a:extLst>
            </p:cNvPr>
            <p:cNvGrpSpPr/>
            <p:nvPr/>
          </p:nvGrpSpPr>
          <p:grpSpPr>
            <a:xfrm>
              <a:off x="6220060" y="5169294"/>
              <a:ext cx="230774" cy="182297"/>
              <a:chOff x="0" y="0"/>
              <a:chExt cx="812800" cy="698500"/>
            </a:xfrm>
          </p:grpSpPr>
          <p:sp>
            <p:nvSpPr>
              <p:cNvPr id="13" name="Freeform 3">
                <a:extLst>
                  <a:ext uri="{FF2B5EF4-FFF2-40B4-BE49-F238E27FC236}">
                    <a16:creationId xmlns:a16="http://schemas.microsoft.com/office/drawing/2014/main" id="{07C6F55D-D51F-D393-37BD-9414F840F94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FC105"/>
              </a:solidFill>
            </p:spPr>
          </p:sp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9FBDDEF2-972E-39B8-6D5A-4B5D051EE0A8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584200" cy="736600"/>
              </a:xfrm>
              <a:prstGeom prst="rect">
                <a:avLst/>
              </a:prstGeom>
            </p:spPr>
            <p:txBody>
              <a:bodyPr lIns="279779" tIns="279779" rIns="279779" bIns="279779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E8E932D0-3F29-8BBC-6522-C37E13FDEBDC}"/>
                </a:ext>
              </a:extLst>
            </p:cNvPr>
            <p:cNvGrpSpPr/>
            <p:nvPr/>
          </p:nvGrpSpPr>
          <p:grpSpPr>
            <a:xfrm>
              <a:off x="6220060" y="5698211"/>
              <a:ext cx="230774" cy="182297"/>
              <a:chOff x="0" y="0"/>
              <a:chExt cx="812800" cy="698500"/>
            </a:xfrm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77F10BFB-A69A-1150-C3FA-585CFCF3127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FC105"/>
              </a:solidFill>
            </p:spPr>
          </p:sp>
          <p:sp>
            <p:nvSpPr>
              <p:cNvPr id="17" name="TextBox 4">
                <a:extLst>
                  <a:ext uri="{FF2B5EF4-FFF2-40B4-BE49-F238E27FC236}">
                    <a16:creationId xmlns:a16="http://schemas.microsoft.com/office/drawing/2014/main" id="{466B3C96-554F-22E0-60EC-6C38A1AE21F5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584200" cy="736600"/>
              </a:xfrm>
              <a:prstGeom prst="rect">
                <a:avLst/>
              </a:prstGeom>
            </p:spPr>
            <p:txBody>
              <a:bodyPr lIns="279779" tIns="279779" rIns="279779" bIns="279779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8" name="İçerik Yer Tutucusu 2">
            <a:extLst>
              <a:ext uri="{FF2B5EF4-FFF2-40B4-BE49-F238E27FC236}">
                <a16:creationId xmlns:a16="http://schemas.microsoft.com/office/drawing/2014/main" id="{DFB2F19C-1172-087A-9EE6-DD0471E26864}"/>
              </a:ext>
            </a:extLst>
          </p:cNvPr>
          <p:cNvSpPr txBox="1">
            <a:spLocks/>
          </p:cNvSpPr>
          <p:nvPr/>
        </p:nvSpPr>
        <p:spPr>
          <a:xfrm>
            <a:off x="9743832" y="5011820"/>
            <a:ext cx="6585996" cy="1379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3000" b="1" dirty="0">
                <a:solidFill>
                  <a:srgbClr val="FF9933"/>
                </a:solidFill>
              </a:rPr>
              <a:t>% 87.52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tr-TR" sz="3000" b="1" dirty="0">
                <a:solidFill>
                  <a:srgbClr val="FF9933"/>
                </a:solidFill>
              </a:rPr>
              <a:t>% 85</a:t>
            </a:r>
          </a:p>
        </p:txBody>
      </p:sp>
    </p:spTree>
    <p:extLst>
      <p:ext uri="{BB962C8B-B14F-4D97-AF65-F5344CB8AC3E}">
        <p14:creationId xmlns:p14="http://schemas.microsoft.com/office/powerpoint/2010/main" val="1929171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9933"/>
            </a:gs>
            <a:gs pos="57000">
              <a:schemeClr val="bg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özyaşı Damlası 7">
            <a:extLst>
              <a:ext uri="{FF2B5EF4-FFF2-40B4-BE49-F238E27FC236}">
                <a16:creationId xmlns:a16="http://schemas.microsoft.com/office/drawing/2014/main" id="{314ABA87-F015-A14E-FAE7-67F7775DBD79}"/>
              </a:ext>
            </a:extLst>
          </p:cNvPr>
          <p:cNvSpPr/>
          <p:nvPr/>
        </p:nvSpPr>
        <p:spPr>
          <a:xfrm>
            <a:off x="7875858" y="0"/>
            <a:ext cx="4320000" cy="4320000"/>
          </a:xfrm>
          <a:prstGeom prst="teardrop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6A0E6BF1-A68E-C9AC-40D5-D44E4CBC5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61" y="3429000"/>
            <a:ext cx="6760830" cy="8490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7000" b="1" dirty="0" err="1">
                <a:solidFill>
                  <a:srgbClr val="FF9933"/>
                </a:solidFill>
              </a:rPr>
              <a:t>Arayüz</a:t>
            </a:r>
            <a:r>
              <a:rPr lang="tr-TR" sz="7000" b="1" dirty="0">
                <a:solidFill>
                  <a:srgbClr val="FF9933"/>
                </a:solidFill>
              </a:rPr>
              <a:t> Entegrasyonu</a:t>
            </a:r>
          </a:p>
        </p:txBody>
      </p:sp>
      <p:sp>
        <p:nvSpPr>
          <p:cNvPr id="11" name="İçerik Yer Tutucusu 2">
            <a:extLst>
              <a:ext uri="{FF2B5EF4-FFF2-40B4-BE49-F238E27FC236}">
                <a16:creationId xmlns:a16="http://schemas.microsoft.com/office/drawing/2014/main" id="{DE8A7D5C-D7EE-8D1A-8F9C-62882E7FCB6F}"/>
              </a:ext>
            </a:extLst>
          </p:cNvPr>
          <p:cNvSpPr txBox="1">
            <a:spLocks/>
          </p:cNvSpPr>
          <p:nvPr/>
        </p:nvSpPr>
        <p:spPr>
          <a:xfrm>
            <a:off x="9240209" y="925284"/>
            <a:ext cx="1591298" cy="2340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r-TR" sz="20000" b="1" dirty="0">
                <a:solidFill>
                  <a:schemeClr val="bg1"/>
                </a:solidFill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tr-TR" sz="20000" b="1" dirty="0">
              <a:solidFill>
                <a:schemeClr val="bg1"/>
              </a:solidFill>
            </a:endParaRPr>
          </a:p>
        </p:txBody>
      </p:sp>
      <p:sp>
        <p:nvSpPr>
          <p:cNvPr id="12" name="Freeform 24">
            <a:extLst>
              <a:ext uri="{FF2B5EF4-FFF2-40B4-BE49-F238E27FC236}">
                <a16:creationId xmlns:a16="http://schemas.microsoft.com/office/drawing/2014/main" id="{2F4A5F2C-CDC0-7337-CB31-5E21F3D59D18}"/>
              </a:ext>
            </a:extLst>
          </p:cNvPr>
          <p:cNvSpPr/>
          <p:nvPr/>
        </p:nvSpPr>
        <p:spPr>
          <a:xfrm>
            <a:off x="439118" y="3230986"/>
            <a:ext cx="464434" cy="464434"/>
          </a:xfrm>
          <a:custGeom>
            <a:avLst/>
            <a:gdLst/>
            <a:ahLst/>
            <a:cxnLst/>
            <a:rect l="l" t="t" r="r" b="b"/>
            <a:pathLst>
              <a:path w="975594" h="871479">
                <a:moveTo>
                  <a:pt x="0" y="0"/>
                </a:moveTo>
                <a:lnTo>
                  <a:pt x="975594" y="0"/>
                </a:lnTo>
                <a:lnTo>
                  <a:pt x="975594" y="871479"/>
                </a:lnTo>
                <a:lnTo>
                  <a:pt x="0" y="871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12705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25A20326-708B-44D6-FC1F-24CC12636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889" y="5814077"/>
            <a:ext cx="2092084" cy="650172"/>
          </a:xfrm>
          <a:prstGeom prst="rect">
            <a:avLst/>
          </a:prstGeom>
        </p:spPr>
      </p:pic>
      <p:sp>
        <p:nvSpPr>
          <p:cNvPr id="4" name="Başlık 1">
            <a:extLst>
              <a:ext uri="{FF2B5EF4-FFF2-40B4-BE49-F238E27FC236}">
                <a16:creationId xmlns:a16="http://schemas.microsoft.com/office/drawing/2014/main" id="{91249ADA-5605-F214-F6B9-704105E41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3610"/>
          </a:xfrm>
        </p:spPr>
        <p:txBody>
          <a:bodyPr/>
          <a:lstStyle/>
          <a:p>
            <a:pPr algn="ctr"/>
            <a:r>
              <a:rPr lang="tr-TR" sz="4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UYGULAMA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8C18119-3173-143F-B139-D82DF63D3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697989"/>
            <a:ext cx="9396175" cy="529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11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38FD53-D869-3AF1-AF06-D419E255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GELECEK HEDEFLER</a:t>
            </a:r>
            <a:endParaRPr lang="tr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DA990B-69FF-6FDC-F002-F2A034672E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466431"/>
            <a:ext cx="1130149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IoT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tabanlı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sensörler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ile canlı kovan takibi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Kovanın hem ses hem de sıcaklık/nem parametrelerini izleyen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hibrit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Çiftçilere ve arıcılara mobil bildirim sistemi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D6C84403-B140-F884-80AB-927FB72D52AA}"/>
              </a:ext>
            </a:extLst>
          </p:cNvPr>
          <p:cNvGrpSpPr/>
          <p:nvPr/>
        </p:nvGrpSpPr>
        <p:grpSpPr>
          <a:xfrm>
            <a:off x="10269520" y="212233"/>
            <a:ext cx="964178" cy="792001"/>
            <a:chOff x="0" y="0"/>
            <a:chExt cx="812800" cy="698500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1E069988-4DE3-E6B9-BCF4-AEFABC8E312A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105"/>
            </a:solidFill>
          </p:spPr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33FF154D-07D9-9969-C87B-A2DDB64788A9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279779" tIns="279779" rIns="279779" bIns="27977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5">
            <a:extLst>
              <a:ext uri="{FF2B5EF4-FFF2-40B4-BE49-F238E27FC236}">
                <a16:creationId xmlns:a16="http://schemas.microsoft.com/office/drawing/2014/main" id="{A4B7697E-D8B1-6EA7-86F3-BC3428D3058E}"/>
              </a:ext>
            </a:extLst>
          </p:cNvPr>
          <p:cNvGrpSpPr/>
          <p:nvPr/>
        </p:nvGrpSpPr>
        <p:grpSpPr>
          <a:xfrm>
            <a:off x="356608" y="4735231"/>
            <a:ext cx="921600" cy="835200"/>
            <a:chOff x="0" y="0"/>
            <a:chExt cx="812800" cy="698500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B8B31B0-D4D6-9617-C296-564C6960DCAA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105"/>
            </a:solidFill>
          </p:spPr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9061DE63-3A77-58E9-D161-7C49692289E4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279779" tIns="279779" rIns="279779" bIns="27977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6E14D3D7-DCBD-0980-7196-D475567B911B}"/>
              </a:ext>
            </a:extLst>
          </p:cNvPr>
          <p:cNvGrpSpPr>
            <a:grpSpLocks noChangeAspect="1"/>
          </p:cNvGrpSpPr>
          <p:nvPr/>
        </p:nvGrpSpPr>
        <p:grpSpPr>
          <a:xfrm>
            <a:off x="11339997" y="1534947"/>
            <a:ext cx="1089164" cy="936000"/>
            <a:chOff x="0" y="0"/>
            <a:chExt cx="812800" cy="698500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8C529D85-F7EC-1740-D5EF-05F7BD3EEC52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13" name="TextBox 4">
              <a:extLst>
                <a:ext uri="{FF2B5EF4-FFF2-40B4-BE49-F238E27FC236}">
                  <a16:creationId xmlns:a16="http://schemas.microsoft.com/office/drawing/2014/main" id="{625D24AD-5768-ABA0-F2FC-997D8902FBD0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14" name="Group 2">
            <a:extLst>
              <a:ext uri="{FF2B5EF4-FFF2-40B4-BE49-F238E27FC236}">
                <a16:creationId xmlns:a16="http://schemas.microsoft.com/office/drawing/2014/main" id="{94FA9E41-9C64-DAAF-0F7A-50E446088887}"/>
              </a:ext>
            </a:extLst>
          </p:cNvPr>
          <p:cNvGrpSpPr>
            <a:grpSpLocks noChangeAspect="1"/>
          </p:cNvGrpSpPr>
          <p:nvPr/>
        </p:nvGrpSpPr>
        <p:grpSpPr>
          <a:xfrm>
            <a:off x="10302259" y="-692402"/>
            <a:ext cx="921600" cy="792000"/>
            <a:chOff x="0" y="0"/>
            <a:chExt cx="812800" cy="698500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4D6ABC79-4243-76EF-D157-A2312CAB705D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16" name="TextBox 4">
              <a:extLst>
                <a:ext uri="{FF2B5EF4-FFF2-40B4-BE49-F238E27FC236}">
                  <a16:creationId xmlns:a16="http://schemas.microsoft.com/office/drawing/2014/main" id="{64959644-3E7B-5084-E45B-E229BBAA19EC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17" name="Group 2">
            <a:extLst>
              <a:ext uri="{FF2B5EF4-FFF2-40B4-BE49-F238E27FC236}">
                <a16:creationId xmlns:a16="http://schemas.microsoft.com/office/drawing/2014/main" id="{C082F62D-1E33-17FB-09B1-F5DDF557A457}"/>
              </a:ext>
            </a:extLst>
          </p:cNvPr>
          <p:cNvGrpSpPr>
            <a:grpSpLocks noChangeAspect="1"/>
          </p:cNvGrpSpPr>
          <p:nvPr/>
        </p:nvGrpSpPr>
        <p:grpSpPr>
          <a:xfrm>
            <a:off x="11094259" y="-166341"/>
            <a:ext cx="921600" cy="792000"/>
            <a:chOff x="0" y="0"/>
            <a:chExt cx="812800" cy="698500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E2CC69B5-5D3C-6A79-85B1-09F452986E8E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2C52F56B-1166-E594-DA8D-4547CDE45857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20" name="Group 2">
            <a:extLst>
              <a:ext uri="{FF2B5EF4-FFF2-40B4-BE49-F238E27FC236}">
                <a16:creationId xmlns:a16="http://schemas.microsoft.com/office/drawing/2014/main" id="{05C221C6-F151-F63A-77C2-8BA267458886}"/>
              </a:ext>
            </a:extLst>
          </p:cNvPr>
          <p:cNvGrpSpPr>
            <a:grpSpLocks noChangeAspect="1"/>
          </p:cNvGrpSpPr>
          <p:nvPr/>
        </p:nvGrpSpPr>
        <p:grpSpPr>
          <a:xfrm>
            <a:off x="356608" y="5944832"/>
            <a:ext cx="921600" cy="792000"/>
            <a:chOff x="0" y="0"/>
            <a:chExt cx="812800" cy="698500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E1F20419-6473-C240-6AC0-0EAB891BE365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22" name="TextBox 4">
              <a:extLst>
                <a:ext uri="{FF2B5EF4-FFF2-40B4-BE49-F238E27FC236}">
                  <a16:creationId xmlns:a16="http://schemas.microsoft.com/office/drawing/2014/main" id="{4DDB8436-8CE9-5A1E-F45F-3E37A39FA314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23" name="Group 2">
            <a:extLst>
              <a:ext uri="{FF2B5EF4-FFF2-40B4-BE49-F238E27FC236}">
                <a16:creationId xmlns:a16="http://schemas.microsoft.com/office/drawing/2014/main" id="{863C0F54-81CC-4D25-9500-5E5460E2F3D1}"/>
              </a:ext>
            </a:extLst>
          </p:cNvPr>
          <p:cNvGrpSpPr>
            <a:grpSpLocks noChangeAspect="1"/>
          </p:cNvGrpSpPr>
          <p:nvPr/>
        </p:nvGrpSpPr>
        <p:grpSpPr>
          <a:xfrm>
            <a:off x="-371008" y="4360830"/>
            <a:ext cx="921600" cy="792000"/>
            <a:chOff x="0" y="0"/>
            <a:chExt cx="812800" cy="698500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E3A5F8B2-E5C3-7DAE-54EB-F7B5D6B4D5F7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3B317D05-DD66-038C-D924-BDBA9EE6BD3C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26" name="Group 2">
            <a:extLst>
              <a:ext uri="{FF2B5EF4-FFF2-40B4-BE49-F238E27FC236}">
                <a16:creationId xmlns:a16="http://schemas.microsoft.com/office/drawing/2014/main" id="{FF46E999-9902-DC3D-466B-B2DBC15E1FC4}"/>
              </a:ext>
            </a:extLst>
          </p:cNvPr>
          <p:cNvGrpSpPr>
            <a:grpSpLocks noChangeAspect="1"/>
          </p:cNvGrpSpPr>
          <p:nvPr/>
        </p:nvGrpSpPr>
        <p:grpSpPr>
          <a:xfrm>
            <a:off x="1643304" y="5700875"/>
            <a:ext cx="921600" cy="792000"/>
            <a:chOff x="0" y="0"/>
            <a:chExt cx="812800" cy="698500"/>
          </a:xfrm>
        </p:grpSpPr>
        <p:sp>
          <p:nvSpPr>
            <p:cNvPr id="27" name="Freeform 3">
              <a:extLst>
                <a:ext uri="{FF2B5EF4-FFF2-40B4-BE49-F238E27FC236}">
                  <a16:creationId xmlns:a16="http://schemas.microsoft.com/office/drawing/2014/main" id="{894CEE60-3391-CBF4-3EDC-CCC4B462010B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C0FC4374-D38C-2431-C41D-981CF36B4F9C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pic>
        <p:nvPicPr>
          <p:cNvPr id="29" name="Picture 2">
            <a:extLst>
              <a:ext uri="{FF2B5EF4-FFF2-40B4-BE49-F238E27FC236}">
                <a16:creationId xmlns:a16="http://schemas.microsoft.com/office/drawing/2014/main" id="{6F99CB86-29F3-87A0-C4B3-122D70F22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6276" y="5549462"/>
            <a:ext cx="584436" cy="117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>
            <a:extLst>
              <a:ext uri="{FF2B5EF4-FFF2-40B4-BE49-F238E27FC236}">
                <a16:creationId xmlns:a16="http://schemas.microsoft.com/office/drawing/2014/main" id="{B3BAEA07-F090-3339-79BB-A80D73A52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889" y="5814077"/>
            <a:ext cx="2092084" cy="6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75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1">
            <a:extLst>
              <a:ext uri="{FF2B5EF4-FFF2-40B4-BE49-F238E27FC236}">
                <a16:creationId xmlns:a16="http://schemas.microsoft.com/office/drawing/2014/main" id="{7C31B97E-D70B-4B25-CC42-AACB28397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064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sz="50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DİNLEDİĞİNİZ İÇİN TEŞEKKÜRLER</a:t>
            </a:r>
            <a:endParaRPr lang="tr-TR" sz="5000" dirty="0">
              <a:solidFill>
                <a:srgbClr val="FF9933"/>
              </a:solidFill>
            </a:endParaRP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6C0045DD-E64F-221B-0B0B-721633679137}"/>
              </a:ext>
            </a:extLst>
          </p:cNvPr>
          <p:cNvGrpSpPr/>
          <p:nvPr/>
        </p:nvGrpSpPr>
        <p:grpSpPr>
          <a:xfrm>
            <a:off x="10269520" y="212233"/>
            <a:ext cx="964178" cy="792001"/>
            <a:chOff x="0" y="0"/>
            <a:chExt cx="812800" cy="6985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A0D232A7-0D0C-842B-B264-EEBDBD79D2C2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105"/>
            </a:solidFill>
          </p:spPr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8C490D67-90E3-0CE3-881D-80DCC9FF71D2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279779" tIns="279779" rIns="279779" bIns="27977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1FBAECB1-BD9B-795F-89E3-E13A1255E44B}"/>
              </a:ext>
            </a:extLst>
          </p:cNvPr>
          <p:cNvGrpSpPr/>
          <p:nvPr/>
        </p:nvGrpSpPr>
        <p:grpSpPr>
          <a:xfrm>
            <a:off x="356608" y="4735231"/>
            <a:ext cx="921600" cy="835200"/>
            <a:chOff x="0" y="0"/>
            <a:chExt cx="812800" cy="698500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7C0CC653-E9AF-8480-F5FB-37037D90EE09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105"/>
            </a:solidFill>
          </p:spPr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BADC6D21-E053-B564-3F36-03C650D8425B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279779" tIns="279779" rIns="279779" bIns="27977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2" name="Group 2">
            <a:extLst>
              <a:ext uri="{FF2B5EF4-FFF2-40B4-BE49-F238E27FC236}">
                <a16:creationId xmlns:a16="http://schemas.microsoft.com/office/drawing/2014/main" id="{7CAA4162-02F7-C196-6468-2360F900EBBD}"/>
              </a:ext>
            </a:extLst>
          </p:cNvPr>
          <p:cNvGrpSpPr>
            <a:grpSpLocks noChangeAspect="1"/>
          </p:cNvGrpSpPr>
          <p:nvPr/>
        </p:nvGrpSpPr>
        <p:grpSpPr>
          <a:xfrm>
            <a:off x="11339997" y="1534947"/>
            <a:ext cx="1089164" cy="936000"/>
            <a:chOff x="0" y="0"/>
            <a:chExt cx="812800" cy="698500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378B01BE-6714-371C-AC07-A4C84E81E7E5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6D6E9141-8FE4-C230-0B18-347B0351B6C4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15" name="Group 2">
            <a:extLst>
              <a:ext uri="{FF2B5EF4-FFF2-40B4-BE49-F238E27FC236}">
                <a16:creationId xmlns:a16="http://schemas.microsoft.com/office/drawing/2014/main" id="{405939A3-879C-409C-FB56-B030BA5BE8C2}"/>
              </a:ext>
            </a:extLst>
          </p:cNvPr>
          <p:cNvGrpSpPr>
            <a:grpSpLocks noChangeAspect="1"/>
          </p:cNvGrpSpPr>
          <p:nvPr/>
        </p:nvGrpSpPr>
        <p:grpSpPr>
          <a:xfrm>
            <a:off x="10302259" y="-692402"/>
            <a:ext cx="921600" cy="792000"/>
            <a:chOff x="0" y="0"/>
            <a:chExt cx="812800" cy="698500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66810591-FF2E-BB03-34D8-1DBB091E88DF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2188E79E-208A-EA70-3C38-AC864C4DD060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18" name="Group 2">
            <a:extLst>
              <a:ext uri="{FF2B5EF4-FFF2-40B4-BE49-F238E27FC236}">
                <a16:creationId xmlns:a16="http://schemas.microsoft.com/office/drawing/2014/main" id="{F58393C0-A002-FB01-FDD2-8454F652983F}"/>
              </a:ext>
            </a:extLst>
          </p:cNvPr>
          <p:cNvGrpSpPr>
            <a:grpSpLocks noChangeAspect="1"/>
          </p:cNvGrpSpPr>
          <p:nvPr/>
        </p:nvGrpSpPr>
        <p:grpSpPr>
          <a:xfrm>
            <a:off x="11094259" y="-166341"/>
            <a:ext cx="921600" cy="792000"/>
            <a:chOff x="0" y="0"/>
            <a:chExt cx="812800" cy="698500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0C860945-2A37-7A2B-49CE-7C9AC5E66D5E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C5C6F823-DB65-7723-8D64-69B790E32493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21" name="Group 2">
            <a:extLst>
              <a:ext uri="{FF2B5EF4-FFF2-40B4-BE49-F238E27FC236}">
                <a16:creationId xmlns:a16="http://schemas.microsoft.com/office/drawing/2014/main" id="{C50E0E9B-EA4E-5A6E-ED33-70E5D6D35215}"/>
              </a:ext>
            </a:extLst>
          </p:cNvPr>
          <p:cNvGrpSpPr>
            <a:grpSpLocks noChangeAspect="1"/>
          </p:cNvGrpSpPr>
          <p:nvPr/>
        </p:nvGrpSpPr>
        <p:grpSpPr>
          <a:xfrm>
            <a:off x="356608" y="5944832"/>
            <a:ext cx="921600" cy="792000"/>
            <a:chOff x="0" y="0"/>
            <a:chExt cx="812800" cy="698500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FF916817-6473-9426-43B6-1252FEACDAA9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A7753364-B941-99DC-6227-DFF190280C03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24" name="Group 2">
            <a:extLst>
              <a:ext uri="{FF2B5EF4-FFF2-40B4-BE49-F238E27FC236}">
                <a16:creationId xmlns:a16="http://schemas.microsoft.com/office/drawing/2014/main" id="{29B52539-3100-8920-6E46-1F679C895930}"/>
              </a:ext>
            </a:extLst>
          </p:cNvPr>
          <p:cNvGrpSpPr>
            <a:grpSpLocks noChangeAspect="1"/>
          </p:cNvGrpSpPr>
          <p:nvPr/>
        </p:nvGrpSpPr>
        <p:grpSpPr>
          <a:xfrm>
            <a:off x="-371008" y="4360830"/>
            <a:ext cx="921600" cy="792000"/>
            <a:chOff x="0" y="0"/>
            <a:chExt cx="812800" cy="698500"/>
          </a:xfrm>
        </p:grpSpPr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4476641A-E8ED-2618-4905-45BB51C56887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26" name="TextBox 4">
              <a:extLst>
                <a:ext uri="{FF2B5EF4-FFF2-40B4-BE49-F238E27FC236}">
                  <a16:creationId xmlns:a16="http://schemas.microsoft.com/office/drawing/2014/main" id="{91E7286E-D019-A550-C347-CCDA6E7E7214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27" name="Group 2">
            <a:extLst>
              <a:ext uri="{FF2B5EF4-FFF2-40B4-BE49-F238E27FC236}">
                <a16:creationId xmlns:a16="http://schemas.microsoft.com/office/drawing/2014/main" id="{8E638EDC-F4E0-F26C-0570-755B7379B82D}"/>
              </a:ext>
            </a:extLst>
          </p:cNvPr>
          <p:cNvGrpSpPr>
            <a:grpSpLocks noChangeAspect="1"/>
          </p:cNvGrpSpPr>
          <p:nvPr/>
        </p:nvGrpSpPr>
        <p:grpSpPr>
          <a:xfrm>
            <a:off x="1643304" y="5700875"/>
            <a:ext cx="921600" cy="792000"/>
            <a:chOff x="0" y="0"/>
            <a:chExt cx="812800" cy="698500"/>
          </a:xfrm>
        </p:grpSpPr>
        <p:sp>
          <p:nvSpPr>
            <p:cNvPr id="28" name="Freeform 3">
              <a:extLst>
                <a:ext uri="{FF2B5EF4-FFF2-40B4-BE49-F238E27FC236}">
                  <a16:creationId xmlns:a16="http://schemas.microsoft.com/office/drawing/2014/main" id="{AAAFD8CD-1618-FC67-C15E-77673DA9C609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29" name="TextBox 4">
              <a:extLst>
                <a:ext uri="{FF2B5EF4-FFF2-40B4-BE49-F238E27FC236}">
                  <a16:creationId xmlns:a16="http://schemas.microsoft.com/office/drawing/2014/main" id="{B4684FB9-25BF-CF6E-A404-C93711896D42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30" name="Group 2">
            <a:extLst>
              <a:ext uri="{FF2B5EF4-FFF2-40B4-BE49-F238E27FC236}">
                <a16:creationId xmlns:a16="http://schemas.microsoft.com/office/drawing/2014/main" id="{F4CE4B52-DA55-B8FE-F851-56DDC491465F}"/>
              </a:ext>
            </a:extLst>
          </p:cNvPr>
          <p:cNvGrpSpPr>
            <a:grpSpLocks noChangeAspect="1"/>
          </p:cNvGrpSpPr>
          <p:nvPr/>
        </p:nvGrpSpPr>
        <p:grpSpPr>
          <a:xfrm>
            <a:off x="-308679" y="1785948"/>
            <a:ext cx="1089164" cy="936000"/>
            <a:chOff x="0" y="0"/>
            <a:chExt cx="812800" cy="698500"/>
          </a:xfrm>
        </p:grpSpPr>
        <p:sp>
          <p:nvSpPr>
            <p:cNvPr id="31" name="Freeform 3">
              <a:extLst>
                <a:ext uri="{FF2B5EF4-FFF2-40B4-BE49-F238E27FC236}">
                  <a16:creationId xmlns:a16="http://schemas.microsoft.com/office/drawing/2014/main" id="{8A9614CF-2AD4-D753-2E66-8515F7FA6195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32" name="TextBox 4">
              <a:extLst>
                <a:ext uri="{FF2B5EF4-FFF2-40B4-BE49-F238E27FC236}">
                  <a16:creationId xmlns:a16="http://schemas.microsoft.com/office/drawing/2014/main" id="{0F6931F7-9BE8-9F40-1999-6A4C38DA35BA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D881C9C4-2146-9504-6942-C2F905BE7E72}"/>
              </a:ext>
            </a:extLst>
          </p:cNvPr>
          <p:cNvGrpSpPr>
            <a:grpSpLocks noChangeAspect="1"/>
          </p:cNvGrpSpPr>
          <p:nvPr/>
        </p:nvGrpSpPr>
        <p:grpSpPr>
          <a:xfrm>
            <a:off x="1374720" y="386001"/>
            <a:ext cx="921600" cy="792000"/>
            <a:chOff x="0" y="0"/>
            <a:chExt cx="812800" cy="698500"/>
          </a:xfrm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2C313CEF-DD97-8300-3E51-035702B73678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75C2531F-1515-6FFF-9397-718BC165D8C0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36" name="Group 2">
            <a:extLst>
              <a:ext uri="{FF2B5EF4-FFF2-40B4-BE49-F238E27FC236}">
                <a16:creationId xmlns:a16="http://schemas.microsoft.com/office/drawing/2014/main" id="{FA0A23F7-114A-A280-32DB-91DA481E5923}"/>
              </a:ext>
            </a:extLst>
          </p:cNvPr>
          <p:cNvGrpSpPr>
            <a:grpSpLocks noChangeAspect="1"/>
          </p:cNvGrpSpPr>
          <p:nvPr/>
        </p:nvGrpSpPr>
        <p:grpSpPr>
          <a:xfrm>
            <a:off x="-390168" y="-267899"/>
            <a:ext cx="921600" cy="792000"/>
            <a:chOff x="0" y="0"/>
            <a:chExt cx="812800" cy="698500"/>
          </a:xfrm>
        </p:grpSpPr>
        <p:sp>
          <p:nvSpPr>
            <p:cNvPr id="37" name="Freeform 3">
              <a:extLst>
                <a:ext uri="{FF2B5EF4-FFF2-40B4-BE49-F238E27FC236}">
                  <a16:creationId xmlns:a16="http://schemas.microsoft.com/office/drawing/2014/main" id="{89093486-01B8-04CB-92EE-41F5029D55E9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38" name="TextBox 4">
              <a:extLst>
                <a:ext uri="{FF2B5EF4-FFF2-40B4-BE49-F238E27FC236}">
                  <a16:creationId xmlns:a16="http://schemas.microsoft.com/office/drawing/2014/main" id="{A1A67ADE-D1AF-E21D-6BAB-205C15F1F64A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39" name="Group 2">
            <a:extLst>
              <a:ext uri="{FF2B5EF4-FFF2-40B4-BE49-F238E27FC236}">
                <a16:creationId xmlns:a16="http://schemas.microsoft.com/office/drawing/2014/main" id="{002D40C1-2037-0DA9-2D50-9D2D6F777DDB}"/>
              </a:ext>
            </a:extLst>
          </p:cNvPr>
          <p:cNvGrpSpPr>
            <a:grpSpLocks noChangeAspect="1"/>
          </p:cNvGrpSpPr>
          <p:nvPr/>
        </p:nvGrpSpPr>
        <p:grpSpPr>
          <a:xfrm>
            <a:off x="7524681" y="6024875"/>
            <a:ext cx="1089164" cy="936000"/>
            <a:chOff x="0" y="0"/>
            <a:chExt cx="812800" cy="698500"/>
          </a:xfrm>
        </p:grpSpPr>
        <p:sp>
          <p:nvSpPr>
            <p:cNvPr id="40" name="Freeform 3">
              <a:extLst>
                <a:ext uri="{FF2B5EF4-FFF2-40B4-BE49-F238E27FC236}">
                  <a16:creationId xmlns:a16="http://schemas.microsoft.com/office/drawing/2014/main" id="{363E313B-9198-D206-DA02-342B24326BB8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41" name="TextBox 4">
              <a:extLst>
                <a:ext uri="{FF2B5EF4-FFF2-40B4-BE49-F238E27FC236}">
                  <a16:creationId xmlns:a16="http://schemas.microsoft.com/office/drawing/2014/main" id="{A32C9E42-413C-998D-DC50-7B60E9A63758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42" name="Group 2">
            <a:extLst>
              <a:ext uri="{FF2B5EF4-FFF2-40B4-BE49-F238E27FC236}">
                <a16:creationId xmlns:a16="http://schemas.microsoft.com/office/drawing/2014/main" id="{29D33BB2-E0F4-30BE-06BF-B69E79028151}"/>
              </a:ext>
            </a:extLst>
          </p:cNvPr>
          <p:cNvGrpSpPr>
            <a:grpSpLocks noChangeAspect="1"/>
          </p:cNvGrpSpPr>
          <p:nvPr/>
        </p:nvGrpSpPr>
        <p:grpSpPr>
          <a:xfrm>
            <a:off x="9817680" y="4272935"/>
            <a:ext cx="921600" cy="792000"/>
            <a:chOff x="0" y="0"/>
            <a:chExt cx="812800" cy="698500"/>
          </a:xfrm>
        </p:grpSpPr>
        <p:sp>
          <p:nvSpPr>
            <p:cNvPr id="43" name="Freeform 3">
              <a:extLst>
                <a:ext uri="{FF2B5EF4-FFF2-40B4-BE49-F238E27FC236}">
                  <a16:creationId xmlns:a16="http://schemas.microsoft.com/office/drawing/2014/main" id="{16AEA1D6-8A56-289E-0915-2C23FD53FF1A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44" name="TextBox 4">
              <a:extLst>
                <a:ext uri="{FF2B5EF4-FFF2-40B4-BE49-F238E27FC236}">
                  <a16:creationId xmlns:a16="http://schemas.microsoft.com/office/drawing/2014/main" id="{997EAD02-8878-4400-1756-BECC320F0183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45" name="Group 2">
            <a:extLst>
              <a:ext uri="{FF2B5EF4-FFF2-40B4-BE49-F238E27FC236}">
                <a16:creationId xmlns:a16="http://schemas.microsoft.com/office/drawing/2014/main" id="{7AAE977A-C516-A2A4-7B1A-12FD8AEC35DB}"/>
              </a:ext>
            </a:extLst>
          </p:cNvPr>
          <p:cNvGrpSpPr>
            <a:grpSpLocks noChangeAspect="1"/>
          </p:cNvGrpSpPr>
          <p:nvPr/>
        </p:nvGrpSpPr>
        <p:grpSpPr>
          <a:xfrm>
            <a:off x="10609680" y="4798996"/>
            <a:ext cx="921600" cy="792000"/>
            <a:chOff x="0" y="0"/>
            <a:chExt cx="812800" cy="698500"/>
          </a:xfrm>
        </p:grpSpPr>
        <p:sp>
          <p:nvSpPr>
            <p:cNvPr id="46" name="Freeform 3">
              <a:extLst>
                <a:ext uri="{FF2B5EF4-FFF2-40B4-BE49-F238E27FC236}">
                  <a16:creationId xmlns:a16="http://schemas.microsoft.com/office/drawing/2014/main" id="{B4131C6C-EFBD-B0C9-15DF-8E61C1AFDB4F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47" name="TextBox 4">
              <a:extLst>
                <a:ext uri="{FF2B5EF4-FFF2-40B4-BE49-F238E27FC236}">
                  <a16:creationId xmlns:a16="http://schemas.microsoft.com/office/drawing/2014/main" id="{CE680887-3DC9-2083-9131-27C96FAE49B7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48" name="Group 2">
            <a:extLst>
              <a:ext uri="{FF2B5EF4-FFF2-40B4-BE49-F238E27FC236}">
                <a16:creationId xmlns:a16="http://schemas.microsoft.com/office/drawing/2014/main" id="{AC88FDD5-B65C-B64E-064F-D3AC5DB2C5C0}"/>
              </a:ext>
            </a:extLst>
          </p:cNvPr>
          <p:cNvGrpSpPr>
            <a:grpSpLocks noChangeAspect="1"/>
          </p:cNvGrpSpPr>
          <p:nvPr/>
        </p:nvGrpSpPr>
        <p:grpSpPr>
          <a:xfrm>
            <a:off x="11270400" y="3480935"/>
            <a:ext cx="921600" cy="792000"/>
            <a:chOff x="0" y="0"/>
            <a:chExt cx="812800" cy="698500"/>
          </a:xfrm>
        </p:grpSpPr>
        <p:sp>
          <p:nvSpPr>
            <p:cNvPr id="49" name="Freeform 3">
              <a:extLst>
                <a:ext uri="{FF2B5EF4-FFF2-40B4-BE49-F238E27FC236}">
                  <a16:creationId xmlns:a16="http://schemas.microsoft.com/office/drawing/2014/main" id="{1C3E2770-1015-5C08-C551-661255F3E993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50" name="TextBox 4">
              <a:extLst>
                <a:ext uri="{FF2B5EF4-FFF2-40B4-BE49-F238E27FC236}">
                  <a16:creationId xmlns:a16="http://schemas.microsoft.com/office/drawing/2014/main" id="{880E8AC1-712B-0BE9-CDBA-4C9D11E1F88F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  <p:grpSp>
        <p:nvGrpSpPr>
          <p:cNvPr id="51" name="Group 2">
            <a:extLst>
              <a:ext uri="{FF2B5EF4-FFF2-40B4-BE49-F238E27FC236}">
                <a16:creationId xmlns:a16="http://schemas.microsoft.com/office/drawing/2014/main" id="{54C0D202-7461-E94F-2FA3-78571529FD25}"/>
              </a:ext>
            </a:extLst>
          </p:cNvPr>
          <p:cNvGrpSpPr>
            <a:grpSpLocks noChangeAspect="1"/>
          </p:cNvGrpSpPr>
          <p:nvPr/>
        </p:nvGrpSpPr>
        <p:grpSpPr>
          <a:xfrm>
            <a:off x="11689080" y="6293032"/>
            <a:ext cx="921600" cy="792000"/>
            <a:chOff x="0" y="0"/>
            <a:chExt cx="812800" cy="698500"/>
          </a:xfrm>
        </p:grpSpPr>
        <p:sp>
          <p:nvSpPr>
            <p:cNvPr id="52" name="Freeform 3">
              <a:extLst>
                <a:ext uri="{FF2B5EF4-FFF2-40B4-BE49-F238E27FC236}">
                  <a16:creationId xmlns:a16="http://schemas.microsoft.com/office/drawing/2014/main" id="{5E77D83B-E4AB-FDC6-BEE1-1D680BABB602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C000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53" name="TextBox 4">
              <a:extLst>
                <a:ext uri="{FF2B5EF4-FFF2-40B4-BE49-F238E27FC236}">
                  <a16:creationId xmlns:a16="http://schemas.microsoft.com/office/drawing/2014/main" id="{36469AD9-FEEC-6541-58EA-7386B2BE2E09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1884823" tIns="1884823" rIns="1884823" bIns="1884823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5071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1039</TotalTime>
  <Words>553</Words>
  <Application>Microsoft Office PowerPoint</Application>
  <PresentationFormat>Geniş ekran</PresentationFormat>
  <Paragraphs>79</Paragraphs>
  <Slides>14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Office Teması</vt:lpstr>
      <vt:lpstr>BeeMelody</vt:lpstr>
      <vt:lpstr>PROBLEM TANIMI</vt:lpstr>
      <vt:lpstr>ÇÖZÜM: BeeMelody</vt:lpstr>
      <vt:lpstr>PROJEDEN BEKLENİLENLER</vt:lpstr>
      <vt:lpstr>Hangi Amaçlara Hizmet Ediyor?</vt:lpstr>
      <vt:lpstr>VERİ SETİ</vt:lpstr>
      <vt:lpstr>METODOLOJİ</vt:lpstr>
      <vt:lpstr>PowerPoint Sunusu</vt:lpstr>
      <vt:lpstr>PowerPoint Sunusu</vt:lpstr>
      <vt:lpstr>PowerPoint Sunusu</vt:lpstr>
      <vt:lpstr>PowerPoint Sunusu</vt:lpstr>
      <vt:lpstr>UYGULAMA</vt:lpstr>
      <vt:lpstr>GELECEK HEDEFLER</vt:lpstr>
      <vt:lpstr>DİNLEDİĞİNİZ İÇİN 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creator>Irem Zirhlioglu</dc:creator>
  <cp:lastModifiedBy>Berna ÇAKIR</cp:lastModifiedBy>
  <cp:revision>9</cp:revision>
  <dcterms:created xsi:type="dcterms:W3CDTF">2023-12-05T08:18:41Z</dcterms:created>
  <dcterms:modified xsi:type="dcterms:W3CDTF">2026-02-27T12:57:48Z</dcterms:modified>
</cp:coreProperties>
</file>